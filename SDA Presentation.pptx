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6" r:id="rId4"/>
    <p:sldId id="278" r:id="rId5"/>
    <p:sldId id="261" r:id="rId6"/>
    <p:sldId id="279" r:id="rId7"/>
    <p:sldId id="262" r:id="rId8"/>
    <p:sldId id="264" r:id="rId9"/>
    <p:sldId id="281" r:id="rId10"/>
    <p:sldId id="267" r:id="rId11"/>
    <p:sldId id="285" r:id="rId12"/>
    <p:sldId id="286" r:id="rId13"/>
    <p:sldId id="284" r:id="rId14"/>
    <p:sldId id="268" r:id="rId15"/>
    <p:sldId id="283" r:id="rId16"/>
    <p:sldId id="287" r:id="rId17"/>
    <p:sldId id="288" r:id="rId18"/>
    <p:sldId id="289" r:id="rId19"/>
    <p:sldId id="282" r:id="rId20"/>
    <p:sldId id="290" r:id="rId21"/>
    <p:sldId id="291" r:id="rId22"/>
    <p:sldId id="29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D4D1E0-9ABC-36AB-6540-740DF6267190}" name="Glenn de Graaff" initials="GG" userId="S::glenn.de.graaff@student.uva.nl::d3b14893-0804-4d48-bd92-e225606256aa" providerId="AD"/>
  <p188:author id="{E242ADFB-A169-28AA-8FE6-BE58329EC76A}" name="Jelmer van Dam" initials="JD" userId="S::jelmer.van.dam@student.uva.nl::5dd84086-3006-4358-93aa-b09a822951c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70C2"/>
    <a:srgbClr val="A6B2EC"/>
    <a:srgbClr val="1E4070"/>
    <a:srgbClr val="C6DEFF"/>
    <a:srgbClr val="ADC8F7"/>
    <a:srgbClr val="DCEAF7"/>
    <a:srgbClr val="B7C1FF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21AB5-3DDC-AB1F-7B3B-106BEC93D630}" v="119" dt="2025-12-19T06:39:48.924"/>
    <p1510:client id="{2577BD1A-11A6-7F8A-785D-BD7BC261C1BF}" v="175" dt="2025-12-18T01:33:33.682"/>
    <p1510:client id="{3801B764-3043-C4D5-5AB6-0F8B360E4988}" v="3" dt="2025-12-18T10:30:24.956"/>
    <p1510:client id="{91BBCCFF-A240-710D-DCFF-068D6D475437}" v="184" dt="2025-12-17T15:43:19.727"/>
    <p1510:client id="{91F87C83-8598-EA14-FAEE-F714DB4FF20C}" v="138" dt="2025-12-19T08:01:10.781"/>
    <p1510:client id="{9AF705F9-4BD8-49CC-1276-980CBB8E1B73}" v="3" dt="2025-12-18T10:38:55.450"/>
    <p1510:client id="{FD519426-4065-3596-7129-5A0813106259}" v="8" dt="2025-12-19T13:43:03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36/bmjopen-2018-021768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www.kaggle.com/datasets/pkdarabi/diabetes-dataset-with-18-features/data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07440" y="1272881"/>
            <a:ext cx="6126480" cy="901230"/>
          </a:xfrm>
        </p:spPr>
        <p:txBody>
          <a:bodyPr>
            <a:normAutofit/>
          </a:bodyPr>
          <a:lstStyle/>
          <a:p>
            <a:pPr algn="l"/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Predicting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Diabetes 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107440" y="3429318"/>
            <a:ext cx="9144000" cy="1655762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algn="l"/>
            <a:r>
              <a:rPr lang="de-DE" sz="1800" b="1">
                <a:latin typeface="Verdana Pro"/>
                <a:cs typeface="Arial"/>
              </a:rPr>
              <a:t>Yael Ai, 14716674</a:t>
            </a:r>
            <a:endParaRPr lang="en-US" sz="1800" b="1">
              <a:latin typeface="Verdana Pro"/>
              <a:cs typeface="Aharoni"/>
            </a:endParaRPr>
          </a:p>
          <a:p>
            <a:pPr algn="l"/>
            <a:r>
              <a:rPr lang="de-DE" sz="1800" b="1" err="1">
                <a:latin typeface="Verdana Pro"/>
                <a:cs typeface="Arial"/>
              </a:rPr>
              <a:t>Jelmer</a:t>
            </a:r>
            <a:r>
              <a:rPr lang="de-DE" sz="1800" b="1">
                <a:latin typeface="Verdana Pro"/>
                <a:cs typeface="Arial"/>
              </a:rPr>
              <a:t> van Dam, 14802333</a:t>
            </a:r>
            <a:endParaRPr lang="de-DE" sz="1800" b="1">
              <a:latin typeface="Verdana Pro"/>
              <a:cs typeface="Aharoni"/>
            </a:endParaRPr>
          </a:p>
          <a:p>
            <a:pPr algn="l"/>
            <a:r>
              <a:rPr lang="de-DE" sz="1800" b="1">
                <a:latin typeface="Verdana Pro"/>
                <a:cs typeface="Arial"/>
              </a:rPr>
              <a:t>Glenn de Graaff, 1514913</a:t>
            </a:r>
            <a:endParaRPr lang="de-DE" sz="1800" b="1">
              <a:latin typeface="Verdana Pro"/>
              <a:cs typeface="Aharoni"/>
            </a:endParaRPr>
          </a:p>
          <a:p>
            <a:pPr algn="l"/>
            <a:r>
              <a:rPr lang="de-DE" sz="1800" b="1">
                <a:latin typeface="Verdana Pro"/>
                <a:cs typeface="Arial"/>
              </a:rPr>
              <a:t>Wong Zheng Tat, 16365453</a:t>
            </a:r>
            <a:endParaRPr lang="de-DE" sz="1800" b="1">
              <a:latin typeface="Verdana Pro"/>
            </a:endParaRPr>
          </a:p>
          <a:p>
            <a:pPr algn="l"/>
            <a:endParaRPr lang="de-DE" sz="1100" b="1">
              <a:latin typeface="Verdana Pro"/>
              <a:cs typeface="Arial"/>
            </a:endParaRPr>
          </a:p>
          <a:p>
            <a:br>
              <a:rPr lang="en-US"/>
            </a:br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A7A353B-AF6D-86FC-399A-D437934346A0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381075ED-3DEC-DD81-4086-904309C6B209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81703BC1-45BA-0C16-F3D5-2F839E3AF78E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418216D-AB0E-83CD-B365-281FED2DB2A1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23A8EB3-47F1-7EE2-89BA-B3588AE0E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094" y="1808480"/>
            <a:ext cx="6672612" cy="44094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B2A988-BAE8-EACF-AF28-609A71CD8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2CC7AB44-416B-AF04-BDFD-5CBFB929F8B9}"/>
              </a:ext>
            </a:extLst>
          </p:cNvPr>
          <p:cNvSpPr txBox="1">
            <a:spLocks/>
          </p:cNvSpPr>
          <p:nvPr/>
        </p:nvSpPr>
        <p:spPr>
          <a:xfrm>
            <a:off x="1109321" y="2177872"/>
            <a:ext cx="6126480" cy="3179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b="1">
                <a:solidFill>
                  <a:srgbClr val="1E4070"/>
                </a:solidFill>
                <a:latin typeface="Amasis MT Pro"/>
                <a:cs typeface="Aharoni"/>
              </a:rPr>
              <a:t>Scientific Data Analysis 25/26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5143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D5D2DB-5B59-76B6-2C38-4C0B81A15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6F9491-760F-CACC-7E6B-D47EE6099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440" y="614363"/>
            <a:ext cx="6126480" cy="965200"/>
          </a:xfrm>
        </p:spPr>
        <p:txBody>
          <a:bodyPr>
            <a:normAutofit/>
          </a:bodyPr>
          <a:lstStyle/>
          <a:p>
            <a:pPr algn="l"/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Background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3EADDB1-583C-E942-8B80-EF2B0002F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7440" y="2149158"/>
            <a:ext cx="9144000" cy="293592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l"/>
            <a:endParaRPr lang="de-DE" sz="4800">
              <a:latin typeface="Aharoni"/>
              <a:cs typeface="Aharoni"/>
            </a:endParaRPr>
          </a:p>
          <a:p>
            <a:pPr algn="l">
              <a:buChar char="•"/>
            </a:pPr>
            <a:endParaRPr lang="de-DE" sz="3600">
              <a:latin typeface="Verdana Pro"/>
            </a:endParaRPr>
          </a:p>
          <a:p>
            <a:pPr marL="171450" indent="-171450" algn="l">
              <a:buChar char="•"/>
            </a:pPr>
            <a:endParaRPr lang="de-DE" sz="3600" b="1">
              <a:latin typeface="Verdana Pro"/>
            </a:endParaRPr>
          </a:p>
          <a:p>
            <a:pPr algn="l"/>
            <a:endParaRPr lang="de-DE" sz="3600" b="1">
              <a:latin typeface="Verdana Pro"/>
            </a:endParaRPr>
          </a:p>
          <a:p>
            <a:br>
              <a:rPr lang="en-US"/>
            </a:br>
            <a:endParaRPr lang="en-US" sz="4000" b="1">
              <a:latin typeface="Verdana Pro"/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A5C1DFA-3DDF-18FD-A9E4-9870A46AB7BC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409D21A5-5C89-035D-BE6C-B79FB6017BCC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B7C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B44FFEE1-CC34-8AC6-3EFD-3034E037BBBC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C876946-30FA-35CF-BA9B-F70C6F8AC12F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B7C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8164F7-272A-3A6A-9287-9622DADD0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215707-020F-98EE-6C51-267BAC471777}"/>
              </a:ext>
            </a:extLst>
          </p:cNvPr>
          <p:cNvSpPr/>
          <p:nvPr/>
        </p:nvSpPr>
        <p:spPr>
          <a:xfrm>
            <a:off x="1107439" y="3281680"/>
            <a:ext cx="9611359" cy="2153919"/>
          </a:xfrm>
          <a:prstGeom prst="roundRect">
            <a:avLst/>
          </a:prstGeom>
          <a:solidFill>
            <a:srgbClr val="C6D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Our goal is to recreate and validate this idea ourselves, using the techniques and statistical methods we have learned in this course. By applying scientific data analysis to a real medical dataset, we aim to:</a:t>
            </a:r>
            <a:endParaRPr lang="en-US"/>
          </a:p>
          <a:p>
            <a:endParaRPr lang="en-US">
              <a:solidFill>
                <a:srgbClr val="000000"/>
              </a:solidFill>
            </a:endParaRPr>
          </a:p>
          <a:p>
            <a:pPr marL="228600" indent="-228600"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Identify which factors are most strongly associated with diabetes</a:t>
            </a:r>
          </a:p>
          <a:p>
            <a:pPr marL="228600" indent="-228600"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Build a predictive model that performs significantly better than random chance</a:t>
            </a:r>
          </a:p>
          <a:p>
            <a:pPr marL="228600" indent="-228600"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Learn how model selection influences performance</a:t>
            </a:r>
          </a:p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1908EDB-4EA8-367D-A733-7836F28C57D8}"/>
              </a:ext>
            </a:extLst>
          </p:cNvPr>
          <p:cNvSpPr/>
          <p:nvPr/>
        </p:nvSpPr>
        <p:spPr>
          <a:xfrm>
            <a:off x="1107440" y="1788160"/>
            <a:ext cx="9611360" cy="1137920"/>
          </a:xfrm>
          <a:prstGeom prst="roundRect">
            <a:avLst/>
          </a:prstGeom>
          <a:solidFill>
            <a:srgbClr val="C6D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rgbClr val="000000"/>
                </a:solidFill>
              </a:rPr>
              <a:t>Diabetes is a </a:t>
            </a:r>
            <a:r>
              <a:rPr lang="en-US" b="1">
                <a:solidFill>
                  <a:srgbClr val="000000"/>
                </a:solidFill>
              </a:rPr>
              <a:t>growing global health</a:t>
            </a:r>
            <a:r>
              <a:rPr lang="en-US">
                <a:solidFill>
                  <a:srgbClr val="000000"/>
                </a:solidFill>
              </a:rPr>
              <a:t> issue, affecting hundreds of millions of people worldwide. Early detection plays a crucial role in preventing severe health complications and improving long-term outcomes. Machine learning has already shown promise in predicting diabetes risk.</a:t>
            </a:r>
          </a:p>
        </p:txBody>
      </p:sp>
    </p:spTree>
    <p:extLst>
      <p:ext uri="{BB962C8B-B14F-4D97-AF65-F5344CB8AC3E}">
        <p14:creationId xmlns:p14="http://schemas.microsoft.com/office/powerpoint/2010/main" val="4174021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54E88-3D10-6F27-3439-081AFC75F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7BF2BC-E49F-EB31-196C-D1B0FE421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440" y="614363"/>
            <a:ext cx="6664960" cy="965200"/>
          </a:xfrm>
        </p:spPr>
        <p:txBody>
          <a:bodyPr>
            <a:normAutofit/>
          </a:bodyPr>
          <a:lstStyle/>
          <a:p>
            <a:pPr algn="l"/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Real World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Applications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E6FA673-0293-9A78-6F93-278D58C3A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760" y="2362518"/>
            <a:ext cx="9144000" cy="293592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l"/>
            <a:endParaRPr lang="de-DE" sz="4800">
              <a:latin typeface="Aharoni"/>
              <a:cs typeface="Aharoni"/>
            </a:endParaRPr>
          </a:p>
          <a:p>
            <a:pPr algn="l">
              <a:buChar char="•"/>
            </a:pPr>
            <a:endParaRPr lang="de-DE" sz="3600">
              <a:latin typeface="Verdana Pro"/>
            </a:endParaRPr>
          </a:p>
          <a:p>
            <a:pPr marL="171450" indent="-171450" algn="l">
              <a:buChar char="•"/>
            </a:pPr>
            <a:endParaRPr lang="de-DE" sz="3600" b="1">
              <a:latin typeface="Verdana Pro"/>
            </a:endParaRPr>
          </a:p>
          <a:p>
            <a:pPr algn="l"/>
            <a:endParaRPr lang="de-DE" sz="3600" b="1">
              <a:latin typeface="Verdana Pro"/>
            </a:endParaRPr>
          </a:p>
          <a:p>
            <a:br>
              <a:rPr lang="en-US"/>
            </a:br>
            <a:endParaRPr lang="en-US" sz="4000" b="1">
              <a:latin typeface="Verdana Pro"/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EB531E3-3EA9-F9C3-3F3D-EA3F8398A2FF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BD5EA62-CEFB-3AEE-8AEC-E77A746DF7A4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B7C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4732CB9-DFD7-5FAF-7ED7-502CAC368827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25D4B858-477C-1932-36B4-F2B6250BA280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B7C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264FA3-6631-86A4-6969-D1D13BC51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A4C9BA9-97A6-D237-05EA-D0C953260A2A}"/>
              </a:ext>
            </a:extLst>
          </p:cNvPr>
          <p:cNvSpPr/>
          <p:nvPr/>
        </p:nvSpPr>
        <p:spPr>
          <a:xfrm>
            <a:off x="1219199" y="2367278"/>
            <a:ext cx="8788400" cy="711200"/>
          </a:xfrm>
          <a:prstGeom prst="roundRect">
            <a:avLst/>
          </a:prstGeom>
          <a:solidFill>
            <a:srgbClr val="A6B2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b="1">
                <a:solidFill>
                  <a:srgbClr val="000000"/>
                </a:solidFill>
              </a:rPr>
              <a:t>Identify risk factors for diabetes</a:t>
            </a:r>
            <a:endParaRPr lang="en-US"/>
          </a:p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Design of efficient population wide screening methods </a:t>
            </a:r>
            <a:endParaRPr lang="en-US"/>
          </a:p>
          <a:p>
            <a:endParaRPr lang="en-US" sz="2000" b="1">
              <a:solidFill>
                <a:srgbClr val="000000"/>
              </a:solidFill>
            </a:endParaRPr>
          </a:p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54BD381-AA0C-173C-7DE5-4D781802941A}"/>
              </a:ext>
            </a:extLst>
          </p:cNvPr>
          <p:cNvSpPr/>
          <p:nvPr/>
        </p:nvSpPr>
        <p:spPr>
          <a:xfrm>
            <a:off x="1219198" y="3210557"/>
            <a:ext cx="8788400" cy="711200"/>
          </a:xfrm>
          <a:prstGeom prst="roundRect">
            <a:avLst/>
          </a:prstGeom>
          <a:solidFill>
            <a:srgbClr val="A6B2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>
                <a:solidFill>
                  <a:srgbClr val="000000"/>
                </a:solidFill>
              </a:rPr>
              <a:t>Practical use by clinicians</a:t>
            </a:r>
            <a:br>
              <a:rPr lang="en-US" b="1"/>
            </a:br>
            <a:r>
              <a:rPr lang="en-US">
                <a:solidFill>
                  <a:srgbClr val="000000"/>
                </a:solidFill>
              </a:rPr>
              <a:t>Physicians can encourage patients take strong preventive measures against diabetes</a:t>
            </a:r>
            <a:endParaRPr lang="en-US"/>
          </a:p>
          <a:p>
            <a:endParaRPr lang="en-US" sz="2000" b="1">
              <a:solidFill>
                <a:srgbClr val="000000"/>
              </a:solidFill>
            </a:endParaRPr>
          </a:p>
          <a:p>
            <a:pPr algn="ctr"/>
            <a:endParaRPr lang="en-US" sz="200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85EA40D-FD68-1F05-E1FC-582DC9CE725F}"/>
              </a:ext>
            </a:extLst>
          </p:cNvPr>
          <p:cNvSpPr/>
          <p:nvPr/>
        </p:nvSpPr>
        <p:spPr>
          <a:xfrm>
            <a:off x="1218331" y="4053837"/>
            <a:ext cx="8789268" cy="711200"/>
          </a:xfrm>
          <a:prstGeom prst="roundRect">
            <a:avLst/>
          </a:prstGeom>
          <a:solidFill>
            <a:srgbClr val="A6B2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b="1">
                <a:solidFill>
                  <a:srgbClr val="000000"/>
                </a:solidFill>
              </a:rPr>
              <a:t>Useful for hospitals, governments and pharmaceutical companies</a:t>
            </a:r>
            <a:endParaRPr lang="en-US"/>
          </a:p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Assess how much they need to spend on buying/developing medications</a:t>
            </a:r>
            <a:endParaRPr lang="en-US"/>
          </a:p>
          <a:p>
            <a:endParaRPr lang="en-US" sz="2000" b="1">
              <a:solidFill>
                <a:srgbClr val="000000"/>
              </a:solidFill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42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6A8074-190C-8BB1-BA62-A728E7D6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BF6915-7CDC-DBE3-A6B6-7D4AB0690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417" y="453430"/>
            <a:ext cx="9258114" cy="658542"/>
          </a:xfrm>
        </p:spPr>
        <p:txBody>
          <a:bodyPr>
            <a:noAutofit/>
          </a:bodyPr>
          <a:lstStyle/>
          <a:p>
            <a:pPr algn="l"/>
            <a:r>
              <a:rPr lang="de-DE" sz="5300" b="1">
                <a:solidFill>
                  <a:schemeClr val="accent1">
                    <a:lumMod val="76000"/>
                  </a:schemeClr>
                </a:solidFill>
              </a:rPr>
              <a:t>Research Question 1</a:t>
            </a:r>
            <a:endParaRPr lang="en-US" sz="530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E45E527-0738-AC2C-F98D-BB3AECEBF3D3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BDA2D1D-BFEC-EBC3-42BF-EC8C35669344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4FD57F09-B68F-013A-B5B7-304B0584F2F1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6A7E3A81-CCD1-466B-BBAD-D846BCBB0F73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9A1C24E-7704-ECA1-189A-3ADBF6189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3E4DAD-67DD-207B-4009-1E2F7614C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00" b="2576"/>
          <a:stretch>
            <a:fillRect/>
          </a:stretch>
        </p:blipFill>
        <p:spPr>
          <a:xfrm>
            <a:off x="8221245" y="-1902"/>
            <a:ext cx="3092567" cy="30604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33F222-7123-3FF7-1989-0F39EA66BE2C}"/>
              </a:ext>
            </a:extLst>
          </p:cNvPr>
          <p:cNvSpPr/>
          <p:nvPr/>
        </p:nvSpPr>
        <p:spPr>
          <a:xfrm>
            <a:off x="920636" y="1835148"/>
            <a:ext cx="6646024" cy="684647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/>
              <a:t>Revised Hypotheses (Predictive Performance)</a:t>
            </a:r>
            <a:endParaRPr lang="en-US"/>
          </a:p>
          <a:p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04E2332-06A0-EE24-A5BF-AD0EB7E6E978}"/>
              </a:ext>
            </a:extLst>
          </p:cNvPr>
          <p:cNvSpPr/>
          <p:nvPr/>
        </p:nvSpPr>
        <p:spPr>
          <a:xfrm>
            <a:off x="323732" y="2683508"/>
            <a:ext cx="3917836" cy="2626360"/>
          </a:xfrm>
          <a:prstGeom prst="roundRect">
            <a:avLst/>
          </a:prstGeom>
          <a:solidFill>
            <a:srgbClr val="C6D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b="1">
              <a:solidFill>
                <a:srgbClr val="1E4070"/>
              </a:solidFill>
              <a:ea typeface="+mn-lt"/>
              <a:cs typeface="+mn-lt"/>
            </a:endParaRPr>
          </a:p>
          <a:p>
            <a:endParaRPr lang="en-US" b="1">
              <a:solidFill>
                <a:srgbClr val="1E4070"/>
              </a:solidFill>
              <a:ea typeface="+mn-lt"/>
              <a:cs typeface="+mn-lt"/>
            </a:endParaRPr>
          </a:p>
          <a:p>
            <a:endParaRPr lang="en-US" b="1">
              <a:solidFill>
                <a:srgbClr val="1E4070"/>
              </a:solidFill>
              <a:ea typeface="+mn-lt"/>
              <a:cs typeface="+mn-lt"/>
            </a:endParaRPr>
          </a:p>
          <a:p>
            <a:r>
              <a:rPr lang="en-US" b="1">
                <a:solidFill>
                  <a:srgbClr val="1E4070"/>
                </a:solidFill>
                <a:ea typeface="+mn-lt"/>
                <a:cs typeface="+mn-lt"/>
              </a:rPr>
              <a:t>H0:</a:t>
            </a:r>
            <a:endParaRPr lang="en-US" sz="2800">
              <a:ea typeface="+mn-lt"/>
              <a:cs typeface="+mn-lt"/>
            </a:endParaRPr>
          </a:p>
          <a:p>
            <a:r>
              <a:rPr lang="en-US" sz="1600" b="1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A multivariate model using physiological and metabolic predictors does not predict diabetes status better than random chance.</a:t>
            </a:r>
            <a:endParaRPr lang="en-US" b="1">
              <a:solidFill>
                <a:schemeClr val="tx2">
                  <a:lumMod val="90000"/>
                  <a:lumOff val="10000"/>
                </a:schemeClr>
              </a:solidFill>
              <a:ea typeface="+mn-lt"/>
              <a:cs typeface="+mn-lt"/>
            </a:endParaRPr>
          </a:p>
          <a:p>
            <a:endParaRPr lang="en-US" sz="1600" b="1">
              <a:solidFill>
                <a:schemeClr val="tx2">
                  <a:lumMod val="90000"/>
                  <a:lumOff val="10000"/>
                </a:schemeClr>
              </a:solidFill>
              <a:latin typeface="Aptos" panose="020B0004020202020204"/>
              <a:cs typeface="Arial"/>
            </a:endParaRPr>
          </a:p>
          <a:p>
            <a:endParaRPr lang="en-US" b="1">
              <a:solidFill>
                <a:srgbClr val="1E4070"/>
              </a:solidFill>
              <a:latin typeface="Aptos" panose="020B0004020202020204"/>
              <a:cs typeface="Arial"/>
            </a:endParaRPr>
          </a:p>
          <a:p>
            <a:endParaRPr lang="en-US" b="1">
              <a:solidFill>
                <a:srgbClr val="1E4070"/>
              </a:solidFill>
              <a:latin typeface="Arial"/>
              <a:cs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90B265-AC57-B464-6BBA-F11DA2076D23}"/>
              </a:ext>
            </a:extLst>
          </p:cNvPr>
          <p:cNvSpPr/>
          <p:nvPr/>
        </p:nvSpPr>
        <p:spPr>
          <a:xfrm>
            <a:off x="4462777" y="2652222"/>
            <a:ext cx="4082358" cy="2653837"/>
          </a:xfrm>
          <a:prstGeom prst="roundRect">
            <a:avLst/>
          </a:prstGeom>
          <a:solidFill>
            <a:srgbClr val="C6D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rgbClr val="1E4070"/>
                </a:solidFill>
                <a:ea typeface="+mn-lt"/>
                <a:cs typeface="+mn-lt"/>
              </a:rPr>
              <a:t>H1:</a:t>
            </a:r>
            <a:endParaRPr lang="en-US">
              <a:ea typeface="+mn-lt"/>
              <a:cs typeface="+mn-lt"/>
            </a:endParaRPr>
          </a:p>
          <a:p>
            <a:r>
              <a:rPr lang="en-US" sz="1600" b="1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A multivariate model using physiological and metabolic predictors predicts diabetes status significantly better than random chance.</a:t>
            </a:r>
          </a:p>
          <a:p>
            <a:endParaRPr lang="en-US" sz="1600" b="1">
              <a:solidFill>
                <a:schemeClr val="tx2">
                  <a:lumMod val="90000"/>
                  <a:lumOff val="10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E2CB0F-8B58-3D7D-BB25-EC076304C191}"/>
              </a:ext>
            </a:extLst>
          </p:cNvPr>
          <p:cNvSpPr txBox="1"/>
          <p:nvPr/>
        </p:nvSpPr>
        <p:spPr>
          <a:xfrm>
            <a:off x="1160318" y="1117022"/>
            <a:ext cx="6095999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0E0E0E"/>
                </a:solidFill>
                <a:ea typeface="+mn-lt"/>
                <a:cs typeface="+mn-lt"/>
              </a:rPr>
              <a:t>Which physiological and metabolic factors allow diabetes status to be predicted better than random chance?</a:t>
            </a:r>
            <a:endParaRPr lang="en-US" sz="1600" b="1">
              <a:ea typeface="+mn-lt"/>
              <a:cs typeface="+mn-lt"/>
            </a:endParaRPr>
          </a:p>
          <a:p>
            <a:endParaRPr lang="en-US" b="1">
              <a:solidFill>
                <a:srgbClr val="0E0E0E"/>
              </a:solidFill>
              <a:latin typeface="Helvetica Neue"/>
            </a:endParaRP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36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8581CE-2FA5-CC27-950E-ABD59D979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FC2ACD-6C65-E494-8029-97DA4995A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417" y="453430"/>
            <a:ext cx="9258114" cy="658542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Research Questions 2</a:t>
            </a:r>
            <a:endParaRPr lang="de-DE" sz="4400" b="1">
              <a:latin typeface="Amasis MT Pro"/>
              <a:cs typeface="Aharoni"/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2372098-3F86-3361-1EBB-F2C271C0CF79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2BF4E454-738E-DEC1-AE27-0B5BA5E6E050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EF21AF74-A332-ECC8-FABA-E2ECF53D55B3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02FB99B1-37A3-1E79-6A34-C0CA88A0742C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22E187A-3807-79E8-15D0-164DFE4A0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pic>
        <p:nvPicPr>
          <p:cNvPr id="4" name="Picture 3" descr="Telescope with planets">
            <a:extLst>
              <a:ext uri="{FF2B5EF4-FFF2-40B4-BE49-F238E27FC236}">
                <a16:creationId xmlns:a16="http://schemas.microsoft.com/office/drawing/2014/main" id="{1B168A55-A415-4879-E603-AD8866114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8" r="38"/>
          <a:stretch>
            <a:fillRect/>
          </a:stretch>
        </p:blipFill>
        <p:spPr>
          <a:xfrm>
            <a:off x="7996109" y="413735"/>
            <a:ext cx="3317703" cy="332023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04A0FC9-0F25-5B69-659F-54674AC23832}"/>
              </a:ext>
            </a:extLst>
          </p:cNvPr>
          <p:cNvSpPr/>
          <p:nvPr/>
        </p:nvSpPr>
        <p:spPr>
          <a:xfrm>
            <a:off x="1249680" y="2068945"/>
            <a:ext cx="5364480" cy="753919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Global Hypotheses (Overall Model Significance)</a:t>
            </a:r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76458C-589C-BA9A-64EB-9B8255339E1C}"/>
              </a:ext>
            </a:extLst>
          </p:cNvPr>
          <p:cNvSpPr/>
          <p:nvPr/>
        </p:nvSpPr>
        <p:spPr>
          <a:xfrm>
            <a:off x="322419" y="3015659"/>
            <a:ext cx="3917836" cy="2626360"/>
          </a:xfrm>
          <a:prstGeom prst="roundRect">
            <a:avLst/>
          </a:prstGeom>
          <a:solidFill>
            <a:srgbClr val="C6D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b="1">
              <a:solidFill>
                <a:srgbClr val="1E4070"/>
              </a:solidFill>
              <a:latin typeface="Aptos"/>
              <a:cs typeface="Arial"/>
            </a:endParaRPr>
          </a:p>
          <a:p>
            <a:r>
              <a:rPr lang="en-US" b="1">
                <a:solidFill>
                  <a:srgbClr val="1E4070"/>
                </a:solidFill>
                <a:latin typeface="Aptos"/>
                <a:cs typeface="Arial"/>
              </a:rPr>
              <a:t>H0 (global):</a:t>
            </a:r>
            <a:endParaRPr lang="en-US">
              <a:solidFill>
                <a:srgbClr val="1E4070"/>
              </a:solidFill>
              <a:latin typeface="Aptos"/>
              <a:cs typeface="Arial"/>
            </a:endParaRPr>
          </a:p>
          <a:p>
            <a:r>
              <a:rPr lang="en-US" sz="1600" b="1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The set of physiological and metabolic predictors explains little to no variance in FFPG.</a:t>
            </a:r>
          </a:p>
          <a:p>
            <a:endParaRPr lang="en-US" sz="2000" b="1">
              <a:solidFill>
                <a:schemeClr val="tx2">
                  <a:lumMod val="90000"/>
                  <a:lumOff val="10000"/>
                </a:schemeClr>
              </a:solidFill>
              <a:latin typeface="Helvetica Neue"/>
              <a:cs typeface="Arial"/>
            </a:endParaRPr>
          </a:p>
          <a:p>
            <a:endParaRPr lang="en-US" b="1">
              <a:solidFill>
                <a:srgbClr val="1E4070"/>
              </a:solidFill>
              <a:latin typeface="Aptos"/>
              <a:cs typeface="Arial"/>
            </a:endParaRPr>
          </a:p>
          <a:p>
            <a:endParaRPr lang="en-US" b="1">
              <a:solidFill>
                <a:srgbClr val="1E4070"/>
              </a:solidFill>
              <a:latin typeface="Arial"/>
              <a:cs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39BEFC-F74C-A9E4-969F-51F4BF35AD40}"/>
              </a:ext>
            </a:extLst>
          </p:cNvPr>
          <p:cNvSpPr/>
          <p:nvPr/>
        </p:nvSpPr>
        <p:spPr>
          <a:xfrm>
            <a:off x="4414466" y="2989627"/>
            <a:ext cx="4082358" cy="2653837"/>
          </a:xfrm>
          <a:prstGeom prst="roundRect">
            <a:avLst/>
          </a:prstGeom>
          <a:solidFill>
            <a:srgbClr val="C6D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rgbClr val="1E4070"/>
                </a:solidFill>
                <a:ea typeface="+mn-lt"/>
                <a:cs typeface="+mn-lt"/>
              </a:rPr>
              <a:t>H1 (global):</a:t>
            </a:r>
            <a:endParaRPr lang="en-US"/>
          </a:p>
          <a:p>
            <a:r>
              <a:rPr lang="en-US" sz="1600" b="1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The set of physiological and metabolic predictors explains a non-trivial proportion of variance in FFPG.</a:t>
            </a:r>
          </a:p>
          <a:p>
            <a:endParaRPr lang="en-US" sz="1600">
              <a:solidFill>
                <a:schemeClr val="tx2">
                  <a:lumMod val="90000"/>
                  <a:lumOff val="10000"/>
                </a:schemeClr>
              </a:solidFill>
              <a:latin typeface="Helvetica Neue"/>
            </a:endParaRPr>
          </a:p>
          <a:p>
            <a:endParaRPr lang="en-US" sz="1100" b="1">
              <a:solidFill>
                <a:srgbClr val="1E4070"/>
              </a:solidFill>
              <a:latin typeface="Arial"/>
              <a:cs typeface="Arial"/>
            </a:endParaRPr>
          </a:p>
          <a:p>
            <a:endParaRPr lang="en-US" sz="105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D64EA2-7CF6-4911-D4B8-F82949904603}"/>
              </a:ext>
            </a:extLst>
          </p:cNvPr>
          <p:cNvSpPr txBox="1"/>
          <p:nvPr/>
        </p:nvSpPr>
        <p:spPr>
          <a:xfrm>
            <a:off x="1229590" y="1125681"/>
            <a:ext cx="6026727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0E0E0E"/>
                </a:solidFill>
                <a:ea typeface="+mn-lt"/>
                <a:cs typeface="+mn-lt"/>
              </a:rPr>
              <a:t>Which factors jointly explain variation in fasting plasma glucose at follow-up (FFPG)?</a:t>
            </a:r>
            <a:endParaRPr lang="en-US" b="1">
              <a:ea typeface="+mn-lt"/>
              <a:cs typeface="+mn-lt"/>
            </a:endParaRPr>
          </a:p>
          <a:p>
            <a:endParaRPr lang="en-US" sz="1600" b="1">
              <a:solidFill>
                <a:srgbClr val="0E0E0E"/>
              </a:solidFill>
              <a:latin typeface="Helvetica Neue"/>
            </a:endParaRPr>
          </a:p>
          <a:p>
            <a:pPr algn="l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84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8DAF4-152D-B3D2-F0FA-CF35E2AD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DB0BA-2981-1123-5F50-00A5656F3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417" y="453430"/>
            <a:ext cx="9258114" cy="658542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Research Questions 3</a:t>
            </a:r>
            <a:endParaRPr lang="de-DE" sz="4400" b="1">
              <a:latin typeface="Amasis MT Pro"/>
              <a:cs typeface="Aharoni"/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0A2EB6DD-A1B2-40C2-C18E-BEA13D8A2374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3292493E-1F2C-4DE5-ECB4-A0A6376FF724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CBADC42B-6D01-AB74-ED3A-06FC8BE3DD38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9CEC82B-3B7F-9F3A-FA4C-AC0F286EEC3A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DDC7B06-3948-F4B9-8F6E-E0170A575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13285F-D73A-4C64-B42C-D7FF1B2FD0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00" b="2576"/>
          <a:stretch>
            <a:fillRect/>
          </a:stretch>
        </p:blipFill>
        <p:spPr>
          <a:xfrm>
            <a:off x="7996109" y="413735"/>
            <a:ext cx="3317703" cy="332023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812DBF-E00F-F0E5-8295-567BA19C910F}"/>
              </a:ext>
            </a:extLst>
          </p:cNvPr>
          <p:cNvSpPr/>
          <p:nvPr/>
        </p:nvSpPr>
        <p:spPr>
          <a:xfrm>
            <a:off x="1021499" y="2201824"/>
            <a:ext cx="6646024" cy="797088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b="1">
              <a:solidFill>
                <a:schemeClr val="bg1"/>
              </a:solidFill>
            </a:endParaRPr>
          </a:p>
          <a:p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Model Comparison Hypotheses</a:t>
            </a:r>
            <a:endParaRPr lang="en-US"/>
          </a:p>
          <a:p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C32426F-857D-8715-C506-B1E75FB5B61D}"/>
              </a:ext>
            </a:extLst>
          </p:cNvPr>
          <p:cNvSpPr/>
          <p:nvPr/>
        </p:nvSpPr>
        <p:spPr>
          <a:xfrm>
            <a:off x="304253" y="3248705"/>
            <a:ext cx="3917836" cy="2626360"/>
          </a:xfrm>
          <a:prstGeom prst="roundRect">
            <a:avLst/>
          </a:prstGeom>
          <a:solidFill>
            <a:srgbClr val="C6D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rgbClr val="1E4070"/>
                </a:solidFill>
                <a:ea typeface="+mn-lt"/>
                <a:cs typeface="+mn-lt"/>
              </a:rPr>
              <a:t>H0:</a:t>
            </a:r>
            <a:endParaRPr lang="en-US">
              <a:ea typeface="+mn-lt"/>
              <a:cs typeface="+mn-lt"/>
            </a:endParaRPr>
          </a:p>
          <a:p>
            <a:r>
              <a:rPr lang="en-US" b="1">
                <a:solidFill>
                  <a:srgbClr val="1E4070"/>
                </a:solidFill>
                <a:ea typeface="+mn-lt"/>
                <a:cs typeface="+mn-lt"/>
              </a:rPr>
              <a:t>Logistic regression does not perform better than linear regression in predicting Type 2 diabetes.</a:t>
            </a:r>
            <a:endParaRPr lang="en-US" b="1"/>
          </a:p>
          <a:p>
            <a:endParaRPr lang="en-US" b="1">
              <a:solidFill>
                <a:srgbClr val="1E4070"/>
              </a:solidFill>
              <a:cs typeface="Arial"/>
            </a:endParaRPr>
          </a:p>
          <a:p>
            <a:endParaRPr lang="en-US" b="1">
              <a:solidFill>
                <a:srgbClr val="1E4070"/>
              </a:solidFill>
              <a:cs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91CDBF-2D2A-F49A-9C81-80C2622E682D}"/>
              </a:ext>
            </a:extLst>
          </p:cNvPr>
          <p:cNvSpPr/>
          <p:nvPr/>
        </p:nvSpPr>
        <p:spPr>
          <a:xfrm>
            <a:off x="4462777" y="3228737"/>
            <a:ext cx="4082358" cy="2653837"/>
          </a:xfrm>
          <a:prstGeom prst="roundRect">
            <a:avLst/>
          </a:prstGeom>
          <a:solidFill>
            <a:srgbClr val="C6D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rgbClr val="1E4070"/>
                </a:solidFill>
                <a:ea typeface="+mn-lt"/>
                <a:cs typeface="+mn-lt"/>
              </a:rPr>
              <a:t>H1:</a:t>
            </a:r>
            <a:endParaRPr lang="en-US">
              <a:ea typeface="+mn-lt"/>
              <a:cs typeface="+mn-lt"/>
            </a:endParaRPr>
          </a:p>
          <a:p>
            <a:r>
              <a:rPr lang="en-US" b="1">
                <a:solidFill>
                  <a:srgbClr val="1E4070"/>
                </a:solidFill>
                <a:ea typeface="+mn-lt"/>
                <a:cs typeface="+mn-lt"/>
              </a:rPr>
              <a:t>Logistic regression </a:t>
            </a:r>
            <a:r>
              <a:rPr lang="en-US" sz="1600" b="1">
                <a:solidFill>
                  <a:srgbClr val="1E4070"/>
                </a:solidFill>
                <a:latin typeface="Helvetica Neue"/>
                <a:ea typeface="+mn-lt"/>
                <a:cs typeface="+mn-lt"/>
              </a:rPr>
              <a:t>is more appropriate than </a:t>
            </a:r>
            <a:r>
              <a:rPr lang="en-US" b="1">
                <a:solidFill>
                  <a:srgbClr val="1E4070"/>
                </a:solidFill>
                <a:ea typeface="+mn-lt"/>
                <a:cs typeface="+mn-lt"/>
              </a:rPr>
              <a:t>linear regression</a:t>
            </a:r>
            <a:endParaRPr lang="en-US" b="1">
              <a:ea typeface="+mn-lt"/>
              <a:cs typeface="+mn-lt"/>
            </a:endParaRPr>
          </a:p>
          <a:p>
            <a:r>
              <a:rPr lang="en-US" b="1">
                <a:solidFill>
                  <a:srgbClr val="1E4070"/>
                </a:solidFill>
                <a:ea typeface="+mn-lt"/>
                <a:cs typeface="+mn-lt"/>
              </a:rPr>
              <a:t>in predicting Type 2 diabetes.</a:t>
            </a:r>
            <a:endParaRPr lang="en-US" b="1">
              <a:ea typeface="+mn-lt"/>
              <a:cs typeface="+mn-lt"/>
            </a:endParaRPr>
          </a:p>
          <a:p>
            <a:endParaRPr lang="en-US" b="1">
              <a:solidFill>
                <a:srgbClr val="1E4070"/>
              </a:solidFill>
            </a:endParaRPr>
          </a:p>
          <a:p>
            <a:endParaRPr lang="en-US" b="1">
              <a:solidFill>
                <a:srgbClr val="1E4070"/>
              </a:solidFill>
            </a:endParaRPr>
          </a:p>
          <a:p>
            <a:endParaRPr lang="en-US" sz="1100" b="1">
              <a:solidFill>
                <a:srgbClr val="1E4070"/>
              </a:solidFill>
              <a:latin typeface="Arial"/>
              <a:cs typeface="Arial"/>
            </a:endParaRPr>
          </a:p>
          <a:p>
            <a:endParaRPr lang="en-US" sz="105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D1379D-BDBD-6828-F957-B94B650F38AA}"/>
              </a:ext>
            </a:extLst>
          </p:cNvPr>
          <p:cNvSpPr txBox="1"/>
          <p:nvPr/>
        </p:nvSpPr>
        <p:spPr>
          <a:xfrm>
            <a:off x="1188623" y="1125681"/>
            <a:ext cx="606769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Which model is more appropriate for predicting Type 2 diabetes: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Linear Regression or Logistic Regression?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927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203D0-02B7-797E-95AB-9E54B533E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3FA687-725A-2756-393E-A06F00237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440" y="504461"/>
            <a:ext cx="9258114" cy="658542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Dataset Description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25CF93E-3489-17E9-E88A-4650224C2B4E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32DC798A-D0A5-7221-00C3-2C6FB1A11FF6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7DF88A1E-A7D0-C234-EEF0-6CCCAF856856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9CC9571C-5955-854E-F89D-9D945D2247B6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C587521-7355-BE1F-73E6-B5E566E04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ADEFD5-2EFE-5A28-5248-83BA7D3C9535}"/>
              </a:ext>
            </a:extLst>
          </p:cNvPr>
          <p:cNvSpPr txBox="1"/>
          <p:nvPr/>
        </p:nvSpPr>
        <p:spPr>
          <a:xfrm>
            <a:off x="4958079" y="5659120"/>
            <a:ext cx="7233919" cy="16773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i="1">
                <a:solidFill>
                  <a:schemeClr val="bg2">
                    <a:lumMod val="49000"/>
                  </a:schemeClr>
                </a:solidFill>
              </a:rPr>
              <a:t>Original study:</a:t>
            </a:r>
            <a:endParaRPr lang="en-US" sz="1050">
              <a:solidFill>
                <a:schemeClr val="bg2">
                  <a:lumMod val="49000"/>
                </a:schemeClr>
              </a:solidFill>
            </a:endParaRPr>
          </a:p>
          <a:p>
            <a:r>
              <a:rPr lang="en-US" sz="1050" i="1">
                <a:solidFill>
                  <a:schemeClr val="bg2">
                    <a:lumMod val="49000"/>
                  </a:schemeClr>
                </a:solidFill>
              </a:rPr>
              <a:t>Chen, Y., Zhang, X. P., Yuan, J., Cai, B., Wang, X. L., Wu, X. L., Zhang, Y. H., Zhang, X. </a:t>
            </a:r>
            <a:r>
              <a:rPr lang="en-US" sz="1050" i="1" err="1">
                <a:solidFill>
                  <a:schemeClr val="bg2">
                    <a:lumMod val="49000"/>
                  </a:schemeClr>
                </a:solidFill>
              </a:rPr>
              <a:t>Y.,Yin</a:t>
            </a:r>
            <a:r>
              <a:rPr lang="en-US" sz="1050" i="1">
                <a:solidFill>
                  <a:schemeClr val="bg2">
                    <a:lumMod val="49000"/>
                  </a:schemeClr>
                </a:solidFill>
              </a:rPr>
              <a:t>, T., Zhu, X. H., Gu, Y. J., Cui, S. W., Lu, Z. Q., &amp; Li, X. Y. (2018). Association of body mass index and age with incident diabetes in Chinese adults: a population-based cohort study. BMJ open, 8(9), e021768. </a:t>
            </a:r>
            <a:r>
              <a:rPr lang="en-US" sz="1050" i="1">
                <a:solidFill>
                  <a:srgbClr val="72727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https://doi.org/10.1136/bmjopen-2018-021768</a:t>
            </a:r>
            <a:endParaRPr lang="en-US" sz="1050"/>
          </a:p>
          <a:p>
            <a:r>
              <a:rPr lang="en-US" sz="1050" i="1">
                <a:solidFill>
                  <a:schemeClr val="bg2">
                    <a:lumMod val="49000"/>
                  </a:schemeClr>
                </a:solidFill>
              </a:rPr>
              <a:t>Link to dataset used (that was adapted from the study)</a:t>
            </a:r>
            <a:endParaRPr lang="en-US" sz="1050">
              <a:solidFill>
                <a:schemeClr val="bg2">
                  <a:lumMod val="49000"/>
                </a:schemeClr>
              </a:solidFill>
            </a:endParaRPr>
          </a:p>
          <a:p>
            <a:r>
              <a:rPr lang="en-US" sz="1050">
                <a:solidFill>
                  <a:srgbClr val="CE9178"/>
                </a:solidFill>
                <a:hlinkClick r:id="rId4"/>
              </a:rPr>
              <a:t>https://www.kaggle.com/datasets/pkdarabi/diabetes-dataset-with-18-features/data</a:t>
            </a:r>
            <a:endParaRPr lang="en-US" sz="1050"/>
          </a:p>
          <a:p>
            <a:endParaRPr lang="en-US" sz="1100"/>
          </a:p>
          <a:p>
            <a:endParaRPr lang="en-US" sz="1100"/>
          </a:p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0F175A-5EBF-4FAF-B1B7-1125F9935578}"/>
              </a:ext>
            </a:extLst>
          </p:cNvPr>
          <p:cNvSpPr txBox="1"/>
          <p:nvPr/>
        </p:nvSpPr>
        <p:spPr>
          <a:xfrm>
            <a:off x="2783840" y="4178908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b="1" baseline="0">
                <a:latin typeface="Aptos"/>
                <a:ea typeface="Segoe UI"/>
                <a:cs typeface="Segoe UI"/>
              </a:rPr>
              <a:t>Follow-up</a:t>
            </a:r>
            <a:r>
              <a:rPr lang="en-US">
                <a:latin typeface="Aptos"/>
                <a:ea typeface="Segoe UI"/>
                <a:cs typeface="Segoe UI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baseline="0">
                <a:latin typeface="Aptos"/>
                <a:ea typeface="Arial"/>
                <a:cs typeface="Arial"/>
              </a:rPr>
              <a:t>Conducted ~</a:t>
            </a:r>
            <a:r>
              <a:rPr lang="en-US" b="1" baseline="0">
                <a:latin typeface="Aptos"/>
                <a:ea typeface="Arial"/>
                <a:cs typeface="Arial"/>
              </a:rPr>
              <a:t>3 years later</a:t>
            </a:r>
            <a:r>
              <a:rPr lang="en-US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baseline="0">
                <a:latin typeface="Aptos"/>
                <a:ea typeface="Arial"/>
                <a:cs typeface="Arial"/>
              </a:rPr>
              <a:t>Screening for:</a:t>
            </a:r>
            <a:r>
              <a:rPr lang="en-US">
                <a:latin typeface="Aptos"/>
                <a:ea typeface="Arial"/>
                <a:cs typeface="Arial"/>
              </a:rPr>
              <a:t>​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b="1" baseline="0">
                <a:latin typeface="Aptos"/>
                <a:ea typeface="Arial"/>
                <a:cs typeface="Arial"/>
              </a:rPr>
              <a:t>FFPG</a:t>
            </a:r>
            <a:r>
              <a:rPr lang="en-US" baseline="0">
                <a:latin typeface="Aptos"/>
                <a:ea typeface="Arial"/>
                <a:cs typeface="Arial"/>
              </a:rPr>
              <a:t> (fasting plasma glucose at final visit)</a:t>
            </a:r>
            <a:r>
              <a:rPr lang="en-US">
                <a:latin typeface="Aptos"/>
                <a:ea typeface="Arial"/>
                <a:cs typeface="Arial"/>
              </a:rPr>
              <a:t>​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b="1" baseline="0">
                <a:latin typeface="Aptos"/>
                <a:ea typeface="Arial"/>
                <a:cs typeface="Arial"/>
              </a:rPr>
              <a:t>Diabetes</a:t>
            </a:r>
            <a:r>
              <a:rPr lang="en-US" baseline="0">
                <a:latin typeface="Aptos"/>
                <a:ea typeface="Arial"/>
                <a:cs typeface="Arial"/>
              </a:rPr>
              <a:t> status (1 = yes, 0 = no)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0DFEA02-365A-6F79-3310-B89711F7D3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" y="1249680"/>
            <a:ext cx="1402080" cy="14020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D431B29-CBB5-456D-07D8-C7A62F97B1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4920" y="2865120"/>
            <a:ext cx="1005840" cy="9753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A5F207-B77E-A9C9-EB02-25F46F98BB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3320" y="4175760"/>
            <a:ext cx="1209040" cy="1168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598CE68-23E1-F883-2101-6C17D1DFEBDA}"/>
              </a:ext>
            </a:extLst>
          </p:cNvPr>
          <p:cNvSpPr txBox="1"/>
          <p:nvPr/>
        </p:nvSpPr>
        <p:spPr>
          <a:xfrm>
            <a:off x="2783840" y="1351279"/>
            <a:ext cx="459232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Participants</a:t>
            </a:r>
            <a:r>
              <a:rPr lang="en-US" dirty="0"/>
              <a:t> 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12,356</a:t>
            </a:r>
            <a:r>
              <a:rPr lang="en-US" dirty="0"/>
              <a:t> adults 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247</a:t>
            </a:r>
            <a:r>
              <a:rPr lang="en-US" dirty="0"/>
              <a:t> had diabetes at the follow up 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No diabetes at baseline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58AFB4-4E7A-FA48-C105-79FA927D70FA}"/>
              </a:ext>
            </a:extLst>
          </p:cNvPr>
          <p:cNvSpPr txBox="1"/>
          <p:nvPr/>
        </p:nvSpPr>
        <p:spPr>
          <a:xfrm>
            <a:off x="2783840" y="2636520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b="1" baseline="0">
                <a:latin typeface="Aptos"/>
                <a:ea typeface="Segoe UI"/>
                <a:cs typeface="Segoe UI"/>
              </a:rPr>
              <a:t>Measurements (18 factors)</a:t>
            </a:r>
            <a:r>
              <a:rPr lang="en-US" baseline="0">
                <a:latin typeface="Aptos"/>
                <a:ea typeface="Segoe UI"/>
                <a:cs typeface="Segoe UI"/>
              </a:rPr>
              <a:t>​</a:t>
            </a:r>
            <a:r>
              <a:rPr lang="en-US">
                <a:latin typeface="Aptos"/>
                <a:ea typeface="Segoe UI"/>
                <a:cs typeface="Segoe UI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baseline="0">
                <a:latin typeface="Aptos"/>
                <a:ea typeface="Arial"/>
                <a:cs typeface="Arial"/>
              </a:rPr>
              <a:t>Age, gender, BMI​</a:t>
            </a:r>
            <a:r>
              <a:rPr lang="en-US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baseline="0">
                <a:latin typeface="Aptos"/>
                <a:ea typeface="Arial"/>
                <a:cs typeface="Arial"/>
              </a:rPr>
              <a:t>Various physiological and metabolic parameters​</a:t>
            </a:r>
            <a:r>
              <a:rPr lang="en-US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baseline="0">
                <a:latin typeface="Aptos"/>
                <a:ea typeface="Arial"/>
                <a:cs typeface="Arial"/>
              </a:rPr>
              <a:t>Smoking status, drinking status​</a:t>
            </a:r>
            <a:r>
              <a:rPr lang="en-US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baseline="0">
                <a:latin typeface="Aptos"/>
                <a:ea typeface="Arial"/>
                <a:cs typeface="Arial"/>
              </a:rPr>
              <a:t>Family history of diabetes​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85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260B8-E014-8661-7F62-3FBCD775A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54F652-BEA8-B3B2-AF17-B3B663AFC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5882" y="186242"/>
            <a:ext cx="7823751" cy="653572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Data Pipeline and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Methodology</a:t>
            </a:r>
            <a:endParaRPr lang="en-US" err="1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0263074-0B97-2814-0BA8-CE7A24D80D56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1AFEE56-1D1D-6088-1D3B-A821F46E97BE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A6B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124363C1-4D9F-297B-123A-F964A4759AB3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C0ED310-D089-26C1-EFEC-BFAFE0914E84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A6B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4F58D3-E0F5-37AF-2641-FBD8E99D0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sp>
        <p:nvSpPr>
          <p:cNvPr id="560" name="Rectangle: Rounded Corners 559">
            <a:extLst>
              <a:ext uri="{FF2B5EF4-FFF2-40B4-BE49-F238E27FC236}">
                <a16:creationId xmlns:a16="http://schemas.microsoft.com/office/drawing/2014/main" id="{0D712EDF-FF87-A8F6-C9F7-AC0A785553FA}"/>
              </a:ext>
            </a:extLst>
          </p:cNvPr>
          <p:cNvSpPr/>
          <p:nvPr/>
        </p:nvSpPr>
        <p:spPr>
          <a:xfrm>
            <a:off x="7832564" y="1709888"/>
            <a:ext cx="1382137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Method 1: </a:t>
            </a:r>
          </a:p>
          <a:p>
            <a:pPr algn="ctr"/>
            <a:r>
              <a:rPr lang="en-US" sz="1600"/>
              <a:t>Linear Regression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9F79EA-F134-BE9F-A2C2-231667F1B635}"/>
              </a:ext>
            </a:extLst>
          </p:cNvPr>
          <p:cNvSpPr/>
          <p:nvPr/>
        </p:nvSpPr>
        <p:spPr>
          <a:xfrm>
            <a:off x="7832563" y="2672463"/>
            <a:ext cx="1382136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Method 2: </a:t>
            </a:r>
          </a:p>
          <a:p>
            <a:pPr algn="ctr"/>
            <a:r>
              <a:rPr lang="en-US" sz="1600"/>
              <a:t>Logistic </a:t>
            </a:r>
          </a:p>
          <a:p>
            <a:pPr algn="ctr"/>
            <a:r>
              <a:rPr lang="en-US" sz="1600"/>
              <a:t>Regression</a:t>
            </a: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A53E00-A2D1-79FD-F62B-E421286483B3}"/>
              </a:ext>
            </a:extLst>
          </p:cNvPr>
          <p:cNvSpPr/>
          <p:nvPr/>
        </p:nvSpPr>
        <p:spPr>
          <a:xfrm>
            <a:off x="7832565" y="3744907"/>
            <a:ext cx="1382137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Method 3: </a:t>
            </a:r>
          </a:p>
          <a:p>
            <a:pPr algn="ctr"/>
            <a:r>
              <a:rPr lang="en-US" sz="1600"/>
              <a:t>Random Chance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2EE0A0-E444-ECF6-9086-5D2C68F5E472}"/>
              </a:ext>
            </a:extLst>
          </p:cNvPr>
          <p:cNvSpPr/>
          <p:nvPr/>
        </p:nvSpPr>
        <p:spPr>
          <a:xfrm>
            <a:off x="4825999" y="1501892"/>
            <a:ext cx="1749777" cy="201930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A1A86E9-3C3B-5142-1620-EB2D4AC5051C}"/>
              </a:ext>
            </a:extLst>
          </p:cNvPr>
          <p:cNvSpPr/>
          <p:nvPr/>
        </p:nvSpPr>
        <p:spPr>
          <a:xfrm>
            <a:off x="306639" y="2142630"/>
            <a:ext cx="1382137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Dataset 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FE1CC8B-18D9-A57A-EE4C-BA94009AD165}"/>
              </a:ext>
            </a:extLst>
          </p:cNvPr>
          <p:cNvSpPr/>
          <p:nvPr/>
        </p:nvSpPr>
        <p:spPr>
          <a:xfrm>
            <a:off x="2545603" y="2161444"/>
            <a:ext cx="1382137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Removing missing values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1AB714-D4A5-243B-C396-F84BD18028A3}"/>
              </a:ext>
            </a:extLst>
          </p:cNvPr>
          <p:cNvSpPr/>
          <p:nvPr/>
        </p:nvSpPr>
        <p:spPr>
          <a:xfrm>
            <a:off x="5000934" y="1618833"/>
            <a:ext cx="1382137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Correlation</a:t>
            </a:r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ECC39E6-F3C5-7679-DB73-05935B937F0B}"/>
              </a:ext>
            </a:extLst>
          </p:cNvPr>
          <p:cNvSpPr/>
          <p:nvPr/>
        </p:nvSpPr>
        <p:spPr>
          <a:xfrm>
            <a:off x="5000934" y="2663054"/>
            <a:ext cx="1382137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Stepwise Selection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0CAE34-4801-0FBF-B228-0F771B8EAB3D}"/>
              </a:ext>
            </a:extLst>
          </p:cNvPr>
          <p:cNvSpPr/>
          <p:nvPr/>
        </p:nvSpPr>
        <p:spPr>
          <a:xfrm>
            <a:off x="7450664" y="1511299"/>
            <a:ext cx="2154298" cy="203811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5B7E9C-9E57-2E8A-E2AD-EE16A57D5275}"/>
              </a:ext>
            </a:extLst>
          </p:cNvPr>
          <p:cNvCxnSpPr/>
          <p:nvPr/>
        </p:nvCxnSpPr>
        <p:spPr>
          <a:xfrm>
            <a:off x="1825427" y="2549897"/>
            <a:ext cx="435166" cy="2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1577B4-A89C-3EBE-B722-1F51BA669116}"/>
              </a:ext>
            </a:extLst>
          </p:cNvPr>
          <p:cNvCxnSpPr>
            <a:cxnSpLocks/>
          </p:cNvCxnSpPr>
          <p:nvPr/>
        </p:nvCxnSpPr>
        <p:spPr>
          <a:xfrm>
            <a:off x="4252538" y="2502860"/>
            <a:ext cx="435166" cy="2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E782159-A824-C582-D465-FC159EB96C31}"/>
              </a:ext>
            </a:extLst>
          </p:cNvPr>
          <p:cNvCxnSpPr>
            <a:cxnSpLocks/>
          </p:cNvCxnSpPr>
          <p:nvPr/>
        </p:nvCxnSpPr>
        <p:spPr>
          <a:xfrm>
            <a:off x="6500909" y="2079527"/>
            <a:ext cx="1197166" cy="1008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CD99F0E-770E-75FD-21EC-1696953D3648}"/>
              </a:ext>
            </a:extLst>
          </p:cNvPr>
          <p:cNvSpPr txBox="1"/>
          <p:nvPr/>
        </p:nvSpPr>
        <p:spPr>
          <a:xfrm>
            <a:off x="4686917" y="962505"/>
            <a:ext cx="2142622" cy="3830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/>
              <a:t>Feature Selection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D91D8A-24B8-20CE-F85B-784DEAC2454B}"/>
              </a:ext>
            </a:extLst>
          </p:cNvPr>
          <p:cNvSpPr txBox="1"/>
          <p:nvPr/>
        </p:nvSpPr>
        <p:spPr>
          <a:xfrm>
            <a:off x="7546769" y="962505"/>
            <a:ext cx="1954474" cy="3830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/>
              <a:t>Data Modelling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72E606-A6B3-6040-C3D6-A182806F5D31}"/>
              </a:ext>
            </a:extLst>
          </p:cNvPr>
          <p:cNvSpPr txBox="1"/>
          <p:nvPr/>
        </p:nvSpPr>
        <p:spPr>
          <a:xfrm>
            <a:off x="10011510" y="962505"/>
            <a:ext cx="1954474" cy="3830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/>
              <a:t>Results</a:t>
            </a:r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4D11B9F-5034-26EA-22F4-82DA667C28C9}"/>
              </a:ext>
            </a:extLst>
          </p:cNvPr>
          <p:cNvSpPr/>
          <p:nvPr/>
        </p:nvSpPr>
        <p:spPr>
          <a:xfrm>
            <a:off x="10353749" y="1606406"/>
            <a:ext cx="1288063" cy="389524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Results 1</a:t>
            </a:r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8EE7AEC-E4AD-7669-E97A-90A337AD64AD}"/>
              </a:ext>
            </a:extLst>
          </p:cNvPr>
          <p:cNvCxnSpPr>
            <a:cxnSpLocks/>
          </p:cNvCxnSpPr>
          <p:nvPr/>
        </p:nvCxnSpPr>
        <p:spPr>
          <a:xfrm flipV="1">
            <a:off x="6510315" y="2081878"/>
            <a:ext cx="1197167" cy="1004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6A2CF96-020B-AB99-DC2D-A537D33729B7}"/>
              </a:ext>
            </a:extLst>
          </p:cNvPr>
          <p:cNvCxnSpPr>
            <a:cxnSpLocks/>
          </p:cNvCxnSpPr>
          <p:nvPr/>
        </p:nvCxnSpPr>
        <p:spPr>
          <a:xfrm>
            <a:off x="6472688" y="2051305"/>
            <a:ext cx="1253610" cy="2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1FD7B7F-711A-575C-AFD4-504EEDA20B7B}"/>
              </a:ext>
            </a:extLst>
          </p:cNvPr>
          <p:cNvCxnSpPr>
            <a:cxnSpLocks/>
          </p:cNvCxnSpPr>
          <p:nvPr/>
        </p:nvCxnSpPr>
        <p:spPr>
          <a:xfrm flipV="1">
            <a:off x="6472689" y="3088471"/>
            <a:ext cx="1263016" cy="70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3E1AAF6-22FC-8513-F4F2-A7A2ADE5EFF6}"/>
              </a:ext>
            </a:extLst>
          </p:cNvPr>
          <p:cNvCxnSpPr>
            <a:cxnSpLocks/>
          </p:cNvCxnSpPr>
          <p:nvPr/>
        </p:nvCxnSpPr>
        <p:spPr>
          <a:xfrm flipV="1">
            <a:off x="9229056" y="1799655"/>
            <a:ext cx="1112501" cy="232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C7A870B-097B-0A14-0E59-FB46B01DCB61}"/>
              </a:ext>
            </a:extLst>
          </p:cNvPr>
          <p:cNvSpPr/>
          <p:nvPr/>
        </p:nvSpPr>
        <p:spPr>
          <a:xfrm>
            <a:off x="10353748" y="2114405"/>
            <a:ext cx="1288063" cy="389524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Results 2</a:t>
            </a:r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CE099E2-9F03-F208-13C0-036D7325DFBC}"/>
              </a:ext>
            </a:extLst>
          </p:cNvPr>
          <p:cNvSpPr/>
          <p:nvPr/>
        </p:nvSpPr>
        <p:spPr>
          <a:xfrm>
            <a:off x="10363156" y="2622406"/>
            <a:ext cx="1288063" cy="389524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Results 3</a:t>
            </a:r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EF7AEC9-7D21-BE41-67FB-2356C02C8003}"/>
              </a:ext>
            </a:extLst>
          </p:cNvPr>
          <p:cNvSpPr/>
          <p:nvPr/>
        </p:nvSpPr>
        <p:spPr>
          <a:xfrm>
            <a:off x="10353748" y="3130406"/>
            <a:ext cx="1288063" cy="389524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Results 4</a:t>
            </a:r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4E0CC2F-0D81-5051-FCDD-1385B6636C04}"/>
              </a:ext>
            </a:extLst>
          </p:cNvPr>
          <p:cNvSpPr/>
          <p:nvPr/>
        </p:nvSpPr>
        <p:spPr>
          <a:xfrm>
            <a:off x="10363155" y="3967665"/>
            <a:ext cx="1288063" cy="389524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Results 5</a:t>
            </a:r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ACCA0FB-1043-3F27-ACE4-971262E40994}"/>
              </a:ext>
            </a:extLst>
          </p:cNvPr>
          <p:cNvCxnSpPr>
            <a:cxnSpLocks/>
          </p:cNvCxnSpPr>
          <p:nvPr/>
        </p:nvCxnSpPr>
        <p:spPr>
          <a:xfrm>
            <a:off x="9229055" y="2088935"/>
            <a:ext cx="1121910" cy="228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76E1410-1962-2EB5-88F4-37B44D591033}"/>
              </a:ext>
            </a:extLst>
          </p:cNvPr>
          <p:cNvCxnSpPr>
            <a:cxnSpLocks/>
          </p:cNvCxnSpPr>
          <p:nvPr/>
        </p:nvCxnSpPr>
        <p:spPr>
          <a:xfrm flipV="1">
            <a:off x="9247871" y="2806247"/>
            <a:ext cx="1112501" cy="232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6FB79D3-AB82-5D30-2407-60389138E9E3}"/>
              </a:ext>
            </a:extLst>
          </p:cNvPr>
          <p:cNvCxnSpPr>
            <a:cxnSpLocks/>
          </p:cNvCxnSpPr>
          <p:nvPr/>
        </p:nvCxnSpPr>
        <p:spPr>
          <a:xfrm>
            <a:off x="9247870" y="3095527"/>
            <a:ext cx="1121910" cy="228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DCB05A9-DFCE-B290-D9B9-733318391A84}"/>
              </a:ext>
            </a:extLst>
          </p:cNvPr>
          <p:cNvCxnSpPr>
            <a:cxnSpLocks/>
          </p:cNvCxnSpPr>
          <p:nvPr/>
        </p:nvCxnSpPr>
        <p:spPr>
          <a:xfrm>
            <a:off x="9238464" y="4167971"/>
            <a:ext cx="1131315" cy="2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CF6DDCC6-B492-7766-2905-C046948E9A21}"/>
              </a:ext>
            </a:extLst>
          </p:cNvPr>
          <p:cNvSpPr/>
          <p:nvPr/>
        </p:nvSpPr>
        <p:spPr>
          <a:xfrm>
            <a:off x="2370664" y="1501891"/>
            <a:ext cx="1740373" cy="204752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7FEDC1-BF48-FC82-1FCB-7790CA79C1FD}"/>
              </a:ext>
            </a:extLst>
          </p:cNvPr>
          <p:cNvSpPr txBox="1"/>
          <p:nvPr/>
        </p:nvSpPr>
        <p:spPr>
          <a:xfrm>
            <a:off x="2165731" y="962505"/>
            <a:ext cx="2142622" cy="3830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/>
              <a:t>Data Cleaning</a:t>
            </a:r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A7294E-CF25-F640-8AFA-4F9B7D9CD70F}"/>
              </a:ext>
            </a:extLst>
          </p:cNvPr>
          <p:cNvSpPr/>
          <p:nvPr/>
        </p:nvSpPr>
        <p:spPr>
          <a:xfrm>
            <a:off x="5010341" y="4356387"/>
            <a:ext cx="1382137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Interaction Terms</a:t>
            </a:r>
            <a:endParaRPr lang="en-US"/>
          </a:p>
        </p:txBody>
      </p:sp>
      <p:sp>
        <p:nvSpPr>
          <p:cNvPr id="13" name="Plus Sign 12">
            <a:extLst>
              <a:ext uri="{FF2B5EF4-FFF2-40B4-BE49-F238E27FC236}">
                <a16:creationId xmlns:a16="http://schemas.microsoft.com/office/drawing/2014/main" id="{2663004C-39E6-91BC-1450-9556EAEAB4FC}"/>
              </a:ext>
            </a:extLst>
          </p:cNvPr>
          <p:cNvSpPr/>
          <p:nvPr/>
        </p:nvSpPr>
        <p:spPr>
          <a:xfrm>
            <a:off x="5558197" y="3717536"/>
            <a:ext cx="392281" cy="401621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119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36C715-8197-E2E8-A48C-46C0F045E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F5C14D-1C0B-CA57-894A-AC91D6241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417" y="453430"/>
            <a:ext cx="9258114" cy="65854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de-DE" sz="4000" b="1" err="1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Factors</a:t>
            </a:r>
            <a:r>
              <a:rPr lang="de-DE" sz="4000" b="1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 </a:t>
            </a:r>
            <a:r>
              <a:rPr lang="de-DE" sz="4000" b="1" err="1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Indicative</a:t>
            </a:r>
            <a:r>
              <a:rPr lang="de-DE" sz="4000" b="1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 </a:t>
            </a:r>
            <a:r>
              <a:rPr lang="de-DE" sz="4000" b="1" err="1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of</a:t>
            </a:r>
            <a:r>
              <a:rPr lang="de-DE" sz="4000" b="1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 Diabetes</a:t>
            </a:r>
            <a:endParaRPr lang="en-US" sz="4000" b="1">
              <a:solidFill>
                <a:schemeClr val="accent1">
                  <a:lumMod val="76000"/>
                </a:schemeClr>
              </a:solidFill>
              <a:ea typeface="+mj-lt"/>
              <a:cs typeface="+mj-lt"/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7D3FFBF-66AD-6651-C6B3-531902A01C0C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CA1D20C-7B63-59E7-DF6C-6DE0526AF2B5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E6A75FBC-F2A6-911D-6FD0-21FF33772BF8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3DE8C74F-32BC-CB43-4DBA-2AFF35C95906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C881E2-45AC-274D-C8EC-5C4D974D7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pic>
        <p:nvPicPr>
          <p:cNvPr id="4" name="Picture 3" descr="Microscope with chemical flasks">
            <a:extLst>
              <a:ext uri="{FF2B5EF4-FFF2-40B4-BE49-F238E27FC236}">
                <a16:creationId xmlns:a16="http://schemas.microsoft.com/office/drawing/2014/main" id="{1E623167-CD37-DA45-6946-20E95CF270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8" r="38"/>
          <a:stretch>
            <a:fillRect/>
          </a:stretch>
        </p:blipFill>
        <p:spPr>
          <a:xfrm>
            <a:off x="8110819" y="839800"/>
            <a:ext cx="3317703" cy="33202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6B6D5D-DEA5-7BBC-8946-8AC902F9B4D4}"/>
              </a:ext>
            </a:extLst>
          </p:cNvPr>
          <p:cNvSpPr txBox="1"/>
          <p:nvPr/>
        </p:nvSpPr>
        <p:spPr>
          <a:xfrm>
            <a:off x="1131269" y="1207616"/>
            <a:ext cx="6977177" cy="57246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Exploratory analyses were conducted to identify factors that provide meaningful information for predicting diabetes.</a:t>
            </a:r>
          </a:p>
          <a:p>
            <a:endParaRPr lang="en-US" sz="1600"/>
          </a:p>
          <a:p>
            <a:r>
              <a:rPr lang="en-US" sz="20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Correlation analysis and feature selection procedures suggested that several variables, including age, fasting glucose (FPG), body mass index (BMI), lipid-related measures, and lifestyle factors such as smoking and drinking, contain predictive information relevant to diabetes status.</a:t>
            </a:r>
          </a:p>
          <a:p>
            <a:endParaRPr lang="en-US" sz="1600"/>
          </a:p>
          <a:p>
            <a:r>
              <a:rPr lang="en-US" sz="20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These variables were subsequently used in predictive modeling, where the resulting models achieved substantially higher accuracy than a random chance baseline, providing evidence against the null hypothesis in a predictive context.</a:t>
            </a:r>
          </a:p>
          <a:p>
            <a:endParaRPr lang="en-US" sz="2000">
              <a:solidFill>
                <a:schemeClr val="tx2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endParaRPr lang="en-US" sz="2000">
              <a:solidFill>
                <a:schemeClr val="tx2">
                  <a:lumMod val="76000"/>
                  <a:lumOff val="24000"/>
                </a:schemeClr>
              </a:solidFill>
              <a:latin typeface="Aptos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B082B4-34D5-D459-40F6-0E61F12A820C}"/>
              </a:ext>
            </a:extLst>
          </p:cNvPr>
          <p:cNvSpPr txBox="1"/>
          <p:nvPr/>
        </p:nvSpPr>
        <p:spPr>
          <a:xfrm>
            <a:off x="1134339" y="5626086"/>
            <a:ext cx="943840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It should be noted that these findings reflect predictive relevance rather than causal relationships.</a:t>
            </a:r>
            <a:endParaRPr lang="en-US" sz="1400">
              <a:solidFill>
                <a:schemeClr val="tx2">
                  <a:lumMod val="49000"/>
                  <a:lumOff val="51000"/>
                </a:schemeClr>
              </a:solidFill>
              <a:ea typeface="+mn-lt"/>
              <a:cs typeface="+mn-lt"/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32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072E5-0399-F38A-7AE0-E38154760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0C7EE-6C0D-8E61-F9AE-23805E945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440" y="419217"/>
            <a:ext cx="9258114" cy="1160346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Feature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Selection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Method 1: 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Correlation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with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FFPG</a:t>
            </a:r>
            <a:endParaRPr lang="en-US" err="1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0D16585-876F-E44C-4E3F-757013A97D35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812C7907-0EFD-7AE2-BAB3-55DCF15C1C1C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CF6CAC1D-59B7-20D9-DC9C-2BC94DDC0A20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7F49FC1A-F9BA-3DAF-1A2E-F1657F7486FF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DD64CF-DC6A-BCD4-F65F-01DF446BC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FA33FDA-FD66-4566-75CE-B0017396B837}"/>
              </a:ext>
            </a:extLst>
          </p:cNvPr>
          <p:cNvSpPr txBox="1"/>
          <p:nvPr/>
        </p:nvSpPr>
        <p:spPr>
          <a:xfrm>
            <a:off x="1107440" y="1866852"/>
            <a:ext cx="5496560" cy="33808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We first looked at</a:t>
            </a:r>
            <a:r>
              <a:rPr lang="en-US" b="1"/>
              <a:t> Pearson correlations</a:t>
            </a:r>
            <a:r>
              <a:rPr lang="en-US"/>
              <a:t> with FFPG</a:t>
            </a:r>
            <a:br>
              <a:rPr lang="en-US"/>
            </a:br>
            <a:endParaRPr lang="en-US"/>
          </a:p>
          <a:p>
            <a:pPr marL="228600" indent="-228600">
              <a:buFont typeface=""/>
              <a:buChar char="•"/>
            </a:pPr>
            <a:r>
              <a:rPr lang="en-US"/>
              <a:t>Variables with </a:t>
            </a:r>
            <a:r>
              <a:rPr lang="en-US" b="1"/>
              <a:t>|r| &gt; 0.5</a:t>
            </a:r>
            <a:r>
              <a:rPr lang="en-US"/>
              <a:t> were considered “strongly associated”</a:t>
            </a:r>
            <a:br>
              <a:rPr lang="en-US"/>
            </a:br>
            <a:endParaRPr lang="en-US"/>
          </a:p>
          <a:p>
            <a:pPr marL="228600" indent="-228600">
              <a:buFont typeface=""/>
              <a:buChar char="•"/>
            </a:pPr>
            <a:r>
              <a:rPr lang="en-US"/>
              <a:t>Selected features based on correlation with </a:t>
            </a:r>
            <a:r>
              <a:rPr lang="en-US" b="1"/>
              <a:t>FFPG</a:t>
            </a:r>
            <a:r>
              <a:rPr lang="en-US"/>
              <a:t>:</a:t>
            </a:r>
          </a:p>
          <a:p>
            <a:pPr marL="0" lvl="1"/>
            <a:r>
              <a:rPr lang="en-US" b="1"/>
              <a:t>  Age, weight, BMI, SBP, FPG</a:t>
            </a:r>
          </a:p>
          <a:p>
            <a:pPr marL="0" lvl="1"/>
            <a:endParaRPr lang="en-US" b="1"/>
          </a:p>
          <a:p>
            <a:pPr marL="285750" lvl="1" indent="-285750">
              <a:buFont typeface="Arial"/>
              <a:buChar char="•"/>
            </a:pPr>
            <a:r>
              <a:rPr lang="en-US"/>
              <a:t>Included an interaction term between BMI and weight</a:t>
            </a:r>
          </a:p>
          <a:p>
            <a:pPr algn="ctr">
              <a:lnSpc>
                <a:spcPct val="250000"/>
              </a:lnSpc>
            </a:pPr>
            <a:endParaRPr lang="en-US" sz="1600"/>
          </a:p>
        </p:txBody>
      </p:sp>
      <p:pic>
        <p:nvPicPr>
          <p:cNvPr id="4" name="Picture 3" descr="A blue and red squares&#10;&#10;AI-generated content may be incorrect.">
            <a:extLst>
              <a:ext uri="{FF2B5EF4-FFF2-40B4-BE49-F238E27FC236}">
                <a16:creationId xmlns:a16="http://schemas.microsoft.com/office/drawing/2014/main" id="{3ABBD691-7E3C-E443-231D-D459F2E16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609" y="1494602"/>
            <a:ext cx="446722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718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D1362-D6A5-52F2-B0AC-76BEAD26E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AD4379-FE5E-5D5F-4436-542C0E963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440" y="921021"/>
            <a:ext cx="9258114" cy="658542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Feature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Selection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Method 2: 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Stepwise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Selection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for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Linear Regression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B5A102B-4108-818C-EBD2-A840757F0B5A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7E357BAB-B67A-43C2-336A-72628C957EBC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7B0069FE-101A-3D45-4A58-F2F21EC8C9C2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6D8C818B-E421-E49C-DD5A-4F373854CB6B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B2042C9-F316-5CE5-4518-44ECD33FE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C5651D4-D4B3-817B-73C2-EB7EEB281DD0}"/>
              </a:ext>
            </a:extLst>
          </p:cNvPr>
          <p:cNvSpPr txBox="1"/>
          <p:nvPr/>
        </p:nvSpPr>
        <p:spPr>
          <a:xfrm>
            <a:off x="1107440" y="1866852"/>
            <a:ext cx="549656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We first looked at</a:t>
            </a:r>
            <a:r>
              <a:rPr lang="en-US" b="1"/>
              <a:t> Pearson correlations</a:t>
            </a:r>
            <a:r>
              <a:rPr lang="en-US"/>
              <a:t> with FFPG</a:t>
            </a:r>
            <a:br>
              <a:rPr lang="en-US"/>
            </a:br>
            <a:endParaRPr lang="en-US"/>
          </a:p>
          <a:p>
            <a:pPr marL="228600" indent="-228600">
              <a:buFont typeface=""/>
              <a:buChar char="•"/>
            </a:pPr>
            <a:r>
              <a:rPr lang="en-US"/>
              <a:t>Variables with </a:t>
            </a:r>
            <a:r>
              <a:rPr lang="en-US" b="1"/>
              <a:t>|r| &gt; 0.5</a:t>
            </a:r>
            <a:r>
              <a:rPr lang="en-US"/>
              <a:t> were considered “strongly associated”</a:t>
            </a:r>
            <a:br>
              <a:rPr lang="en-US"/>
            </a:br>
            <a:endParaRPr lang="en-US"/>
          </a:p>
          <a:p>
            <a:pPr marL="228600" indent="-228600">
              <a:buFont typeface=""/>
              <a:buChar char="•"/>
            </a:pPr>
            <a:r>
              <a:rPr lang="en-US"/>
              <a:t>Selected features based on correlation with </a:t>
            </a:r>
            <a:r>
              <a:rPr lang="en-US" b="1"/>
              <a:t>FFPG</a:t>
            </a:r>
            <a:r>
              <a:rPr lang="en-US"/>
              <a:t>:</a:t>
            </a:r>
          </a:p>
          <a:p>
            <a:pPr marL="0" lvl="1"/>
            <a:r>
              <a:rPr lang="en-US" b="1"/>
              <a:t>  Age, Gender, Weight, SBP, DBP, FPG, Triglyceride, HDL – C, LDL, ALT, AST, BUN, CCR, Drinking, Family History of Diabetes</a:t>
            </a:r>
          </a:p>
          <a:p>
            <a:pPr marL="0" lvl="1"/>
            <a:endParaRPr lang="en-US" b="1"/>
          </a:p>
          <a:p>
            <a:pPr marL="285750" lvl="1" indent="-285750">
              <a:buFont typeface="Arial"/>
              <a:buChar char="•"/>
            </a:pPr>
            <a:r>
              <a:rPr lang="en-US"/>
              <a:t>Included an interaction term between gender and drinking, weight and gender, DBP and SBP, AST and ALT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C7D202-59CF-F27F-A16D-94644E3FF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181" y="1728611"/>
            <a:ext cx="48006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659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1A4B27-CB83-20BC-8090-87B60603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D3E811-7485-673B-82CC-BA867486F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440" y="921021"/>
            <a:ext cx="9258114" cy="658542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Feature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Selection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Method 2: 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Stepwise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Selection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for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Logistic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Regression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6D0CAE8-02CE-4CE6-7EB9-C2CCE761565E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05DD05C6-626C-A797-C1F7-C660BB4FC813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4B7970D6-BDC9-02A9-CCCE-F1243E174724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90A2792C-513D-6573-3D75-A28672D3F7D1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38A0BE-4D9E-7581-8857-4D13A9089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9DFA799-F034-90AE-A887-C53985E5379E}"/>
              </a:ext>
            </a:extLst>
          </p:cNvPr>
          <p:cNvSpPr txBox="1"/>
          <p:nvPr/>
        </p:nvSpPr>
        <p:spPr>
          <a:xfrm>
            <a:off x="1107440" y="1866852"/>
            <a:ext cx="549656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We first looked at</a:t>
            </a:r>
            <a:r>
              <a:rPr lang="en-US" b="1"/>
              <a:t> Pearson correlations</a:t>
            </a:r>
            <a:r>
              <a:rPr lang="en-US"/>
              <a:t> with FFPG</a:t>
            </a:r>
            <a:br>
              <a:rPr lang="en-US"/>
            </a:br>
            <a:endParaRPr lang="en-US"/>
          </a:p>
          <a:p>
            <a:pPr marL="228600" indent="-228600">
              <a:buFont typeface=""/>
              <a:buChar char="•"/>
            </a:pPr>
            <a:r>
              <a:rPr lang="en-US"/>
              <a:t>Variables with </a:t>
            </a:r>
            <a:r>
              <a:rPr lang="en-US" b="1"/>
              <a:t>|r| &gt; 0.5</a:t>
            </a:r>
            <a:r>
              <a:rPr lang="en-US"/>
              <a:t> were considered “strongly associated”</a:t>
            </a:r>
            <a:br>
              <a:rPr lang="en-US"/>
            </a:br>
            <a:endParaRPr lang="en-US"/>
          </a:p>
          <a:p>
            <a:pPr marL="228600" indent="-228600">
              <a:buFont typeface=""/>
              <a:buChar char="•"/>
            </a:pPr>
            <a:r>
              <a:rPr lang="en-US"/>
              <a:t>Selected features based on correlation with </a:t>
            </a:r>
            <a:r>
              <a:rPr lang="en-US" b="1"/>
              <a:t>FFPG</a:t>
            </a:r>
            <a:r>
              <a:rPr lang="en-US"/>
              <a:t>:</a:t>
            </a:r>
          </a:p>
          <a:p>
            <a:pPr marL="0" lvl="1"/>
            <a:r>
              <a:rPr lang="en-US" b="1"/>
              <a:t>  Age, Gender, SBP, FPG, Cholesterol, Triglyceride, HDL-c, LDL, ALT, AST,  BUN, CCR, Smoking, family history of diabetes</a:t>
            </a:r>
          </a:p>
          <a:p>
            <a:pPr marL="0" lvl="1"/>
            <a:endParaRPr lang="en-US" b="1"/>
          </a:p>
          <a:p>
            <a:pPr marL="285750" lvl="1" indent="-285750">
              <a:buFont typeface="Arial"/>
              <a:buChar char="•"/>
            </a:pPr>
            <a:r>
              <a:rPr lang="en-US"/>
              <a:t>Included an interaction term between LDL and Cholesterol, CCR and gender, AST and ALT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3591EA-1343-563C-510D-75CCEAA29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106" y="1860790"/>
            <a:ext cx="48577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45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20989-46EC-7A3E-D30A-D064332DA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7E6949-A50F-BD7B-FE1B-9AA532FAC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440" y="921021"/>
            <a:ext cx="9258114" cy="658542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Feature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Selection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Method 2: 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Stepwise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Selection</a:t>
            </a:r>
            <a:endParaRPr lang="de-DE" sz="4400" err="1">
              <a:latin typeface="Amasis MT Pro"/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8418652-DF6A-7A3B-E437-107F41F018D0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81638986-2CFF-FDC5-C1E7-C25B5C90D829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B7948EF2-D5AE-4716-22A8-673CCA57CEE8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76646981-836E-B7F7-17D3-EE8C7A305E48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C50021-13BB-A64F-AD2C-395BD368E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8EB1EE28-77B4-0EFC-3FB5-B85FBDE86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163" y="1699742"/>
            <a:ext cx="6967008" cy="423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659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7F871-B479-CF77-4772-B9A00A2C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A1CE8-0597-A5AE-643A-6D5FDD1AD6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440" y="921021"/>
            <a:ext cx="9258114" cy="658542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Results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1: Linear Regression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with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Correlation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Selected Features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A0E634E-6FF5-A0FF-6DB6-2FC30907AB90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20ECA0D-02F7-D30D-DA2A-6C1F2AF69BD1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5D56A83-DDE5-147C-CF09-792C037C77AE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A73615A0-A95A-4EE3-69DD-9B7DDCF56BAE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B3130C-C8F5-907F-728E-45F4CCD47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1BA03A-0639-772F-287E-FA075AA8B9C8}"/>
              </a:ext>
            </a:extLst>
          </p:cNvPr>
          <p:cNvSpPr txBox="1"/>
          <p:nvPr/>
        </p:nvSpPr>
        <p:spPr>
          <a:xfrm>
            <a:off x="561892" y="1716819"/>
            <a:ext cx="319024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Model: </a:t>
            </a:r>
            <a:r>
              <a:rPr lang="en-US" b="1"/>
              <a:t>Linear regression</a:t>
            </a:r>
            <a:r>
              <a:rPr lang="en-US"/>
              <a:t> with correlation - selected features</a:t>
            </a:r>
          </a:p>
          <a:p>
            <a:endParaRPr lang="en-US"/>
          </a:p>
          <a:p>
            <a:pPr marL="228600" indent="-228600">
              <a:buFont typeface=""/>
              <a:buChar char="•"/>
            </a:pPr>
            <a:r>
              <a:rPr lang="en-US"/>
              <a:t>Test performance: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0" lvl="1"/>
            <a:r>
              <a:rPr lang="en-US" b="1"/>
              <a:t> MSE ≈ 0.287</a:t>
            </a:r>
          </a:p>
          <a:p>
            <a:pPr marL="0" lvl="1"/>
            <a:r>
              <a:rPr lang="en-US" b="1"/>
              <a:t> R² ≈ 0.256</a:t>
            </a:r>
          </a:p>
          <a:p>
            <a:pPr marL="0" lvl="1"/>
            <a:r>
              <a:rPr lang="en-US" b="1"/>
              <a:t> Accuracy ≈ 0.987</a:t>
            </a:r>
          </a:p>
          <a:p>
            <a:pPr marL="0" lvl="1"/>
            <a:r>
              <a:rPr lang="en-US" b="1"/>
              <a:t> </a:t>
            </a:r>
          </a:p>
          <a:p>
            <a:pPr lvl="1"/>
            <a:r>
              <a:rPr lang="en-US" b="1"/>
              <a:t> </a:t>
            </a:r>
          </a:p>
          <a:p>
            <a:pPr algn="ctr"/>
            <a:endParaRPr lang="en-US"/>
          </a:p>
        </p:txBody>
      </p:sp>
      <p:pic>
        <p:nvPicPr>
          <p:cNvPr id="3" name="Picture 2" descr="A graph of black and red dots&#10;&#10;AI-generated content may be incorrect.">
            <a:extLst>
              <a:ext uri="{FF2B5EF4-FFF2-40B4-BE49-F238E27FC236}">
                <a16:creationId xmlns:a16="http://schemas.microsoft.com/office/drawing/2014/main" id="{A853B85B-9EE3-C358-A8BD-49C7FFEEC1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9" t="-589" r="-148" b="236"/>
          <a:stretch>
            <a:fillRect/>
          </a:stretch>
        </p:blipFill>
        <p:spPr>
          <a:xfrm>
            <a:off x="4553083" y="1579411"/>
            <a:ext cx="7418546" cy="462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580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E591A-CD78-1F06-2C7F-6F6980C90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7AE06B-398D-F83A-8E28-09D8F7AD4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440" y="921021"/>
            <a:ext cx="9258114" cy="658542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Results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2: Linear Regression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with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Stepwise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- Selected Features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0F1CEDD-244F-D6FC-6BA4-6EBF5676EBE6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D891E053-A435-4B7A-7628-A6A17CCF05C1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DA5B9B5-8C47-A669-8762-DADB0A0F02BD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A0D6FC1D-CD43-CBD7-8D15-E5B85D1F8300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A504E57-890E-6813-5CC5-2766599BB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8E043A-4430-954E-5310-637AC45D1F5E}"/>
              </a:ext>
            </a:extLst>
          </p:cNvPr>
          <p:cNvSpPr txBox="1"/>
          <p:nvPr/>
        </p:nvSpPr>
        <p:spPr>
          <a:xfrm>
            <a:off x="650240" y="2545080"/>
            <a:ext cx="319024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Model: </a:t>
            </a:r>
            <a:r>
              <a:rPr lang="en-US" b="1"/>
              <a:t>Linear regression</a:t>
            </a:r>
            <a:r>
              <a:rPr lang="en-US"/>
              <a:t> with stepwise - selected features</a:t>
            </a:r>
          </a:p>
          <a:p>
            <a:endParaRPr lang="en-US"/>
          </a:p>
          <a:p>
            <a:pPr marL="228600" indent="-228600">
              <a:buFont typeface=""/>
              <a:buChar char="•"/>
            </a:pPr>
            <a:r>
              <a:rPr lang="en-US"/>
              <a:t>Test performance: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0" lvl="1"/>
            <a:r>
              <a:rPr lang="en-US" b="1"/>
              <a:t> MSE ≈ 0.287</a:t>
            </a:r>
          </a:p>
          <a:p>
            <a:pPr marL="0" lvl="1"/>
            <a:r>
              <a:rPr lang="en-US" b="1"/>
              <a:t> R² ≈ 0.258</a:t>
            </a:r>
          </a:p>
          <a:p>
            <a:pPr marL="0" lvl="1"/>
            <a:r>
              <a:rPr lang="en-US" b="1"/>
              <a:t> A​</a:t>
            </a:r>
            <a:r>
              <a:rPr lang="en-US" b="1" err="1"/>
              <a:t>ccuracy</a:t>
            </a:r>
            <a:r>
              <a:rPr lang="en-US" b="1"/>
              <a:t> ≈ 0.987</a:t>
            </a:r>
          </a:p>
          <a:p>
            <a:pPr marL="0" lvl="1"/>
            <a:r>
              <a:rPr lang="en-US" b="1"/>
              <a:t> </a:t>
            </a:r>
          </a:p>
          <a:p>
            <a:pPr algn="ctr"/>
            <a:endParaRPr lang="en-US"/>
          </a:p>
        </p:txBody>
      </p:sp>
      <p:pic>
        <p:nvPicPr>
          <p:cNvPr id="11" name="Picture 10" descr="A graph with red dots&#10;&#10;AI-generated content may be incorrect.">
            <a:extLst>
              <a:ext uri="{FF2B5EF4-FFF2-40B4-BE49-F238E27FC236}">
                <a16:creationId xmlns:a16="http://schemas.microsoft.com/office/drawing/2014/main" id="{0B2DC0CA-3F6D-AEE7-9F37-327F356BB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294" y="1709117"/>
            <a:ext cx="7054021" cy="435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134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BFB5D-F50A-03C8-D07C-384F95F1F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164E84-029F-795F-14EC-A9B696A2C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440" y="921021"/>
            <a:ext cx="9258114" cy="658542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Results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3: Logistic Regression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with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Correlation - Selected Features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DDD530E-4422-0262-EBB1-73C4EED3D93E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068D6015-BEB5-7D39-1FA5-808CC6B9A354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2E3ECDF-329C-0E25-47FA-79B6D8AF2DF2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8ABB56B-9AEA-2B23-94BB-8D55D8D360CC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E248E70-188B-7DDD-E126-7DE5B2BAF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3F0334-52CE-8688-0270-99686615DDE7}"/>
              </a:ext>
            </a:extLst>
          </p:cNvPr>
          <p:cNvSpPr txBox="1"/>
          <p:nvPr/>
        </p:nvSpPr>
        <p:spPr>
          <a:xfrm>
            <a:off x="650240" y="2545080"/>
            <a:ext cx="319024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Model: </a:t>
            </a:r>
            <a:r>
              <a:rPr lang="en-US" b="1"/>
              <a:t>Logistic regression</a:t>
            </a:r>
            <a:r>
              <a:rPr lang="en-US"/>
              <a:t> with Correlation - selected features</a:t>
            </a:r>
          </a:p>
          <a:p>
            <a:endParaRPr lang="en-US"/>
          </a:p>
          <a:p>
            <a:pPr marL="228600" indent="-228600">
              <a:buFont typeface=""/>
              <a:buChar char="•"/>
            </a:pPr>
            <a:r>
              <a:rPr lang="en-US"/>
              <a:t>Test performance:</a:t>
            </a:r>
          </a:p>
          <a:p>
            <a:pPr marL="0" lvl="1"/>
            <a:r>
              <a:rPr lang="en-US" b="1"/>
              <a:t> A​</a:t>
            </a:r>
            <a:r>
              <a:rPr lang="en-US" b="1" err="1"/>
              <a:t>ccuracy</a:t>
            </a:r>
            <a:r>
              <a:rPr lang="en-US" b="1"/>
              <a:t> ≈ 0.821</a:t>
            </a:r>
          </a:p>
          <a:p>
            <a:pPr marL="0" lvl="1"/>
            <a:r>
              <a:rPr lang="en-US" b="1"/>
              <a:t> </a:t>
            </a:r>
          </a:p>
          <a:p>
            <a:pPr algn="ctr"/>
            <a:endParaRPr lang="en-US"/>
          </a:p>
        </p:txBody>
      </p:sp>
      <p:pic>
        <p:nvPicPr>
          <p:cNvPr id="3" name="Picture 2" descr="A blue line with white text&#10;&#10;AI-generated content may be incorrect.">
            <a:extLst>
              <a:ext uri="{FF2B5EF4-FFF2-40B4-BE49-F238E27FC236}">
                <a16:creationId xmlns:a16="http://schemas.microsoft.com/office/drawing/2014/main" id="{560CE089-2F42-3C46-4977-B9BE6E7D1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989" y="1576211"/>
            <a:ext cx="738187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40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A63ED-081C-E29B-9830-B5139A5A3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791E18-D17D-BE83-9BE9-4B5F344E7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440" y="921021"/>
            <a:ext cx="9258114" cy="658542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Results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4: Logistic Regression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with</a:t>
            </a:r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 Stepwise - Selected Features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931D04B-DE8C-F81D-023F-7B47E29E0539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47E7F17-55C7-10DA-2909-4140E6F5BBC4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87AA56B5-FEF3-BC37-1E55-D0C0E34DC620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F7D13A1A-E7A9-8909-44B0-80FA5D74B227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637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492CC1A-C5DD-ABEE-B9B2-58272307D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F2B1EF-92A2-D157-7DA7-B44DB3083281}"/>
              </a:ext>
            </a:extLst>
          </p:cNvPr>
          <p:cNvSpPr txBox="1"/>
          <p:nvPr/>
        </p:nvSpPr>
        <p:spPr>
          <a:xfrm>
            <a:off x="650240" y="2545080"/>
            <a:ext cx="319024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Model: </a:t>
            </a:r>
            <a:r>
              <a:rPr lang="en-US" b="1"/>
              <a:t>Logistic regression</a:t>
            </a:r>
            <a:r>
              <a:rPr lang="en-US"/>
              <a:t> with Stepwise - selected features</a:t>
            </a:r>
          </a:p>
          <a:p>
            <a:endParaRPr lang="en-US"/>
          </a:p>
          <a:p>
            <a:pPr marL="228600" indent="-228600">
              <a:buFont typeface=""/>
              <a:buChar char="•"/>
            </a:pPr>
            <a:r>
              <a:rPr lang="en-US"/>
              <a:t>Test performance:</a:t>
            </a:r>
          </a:p>
          <a:p>
            <a:pPr marL="0" lvl="1"/>
            <a:r>
              <a:rPr lang="en-US" b="1"/>
              <a:t> A​</a:t>
            </a:r>
            <a:r>
              <a:rPr lang="en-US" b="1" err="1"/>
              <a:t>ccuracy</a:t>
            </a:r>
            <a:r>
              <a:rPr lang="en-US" b="1"/>
              <a:t> ≈ 0.827</a:t>
            </a:r>
          </a:p>
          <a:p>
            <a:pPr marL="0" lvl="1"/>
            <a:r>
              <a:rPr lang="en-US" b="1"/>
              <a:t> </a:t>
            </a:r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53F3AB-9FE1-7B20-F610-089FCD08B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887" y="1714035"/>
            <a:ext cx="677227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246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678D0-A756-088C-46BB-422E739A2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6287E-4B4D-0334-EB8C-054717AC2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9363" y="515501"/>
            <a:ext cx="7823751" cy="653572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>
                <a:solidFill>
                  <a:srgbClr val="1E4070"/>
                </a:solidFill>
                <a:latin typeface="Amasis MT Pro"/>
                <a:cs typeface="Aharoni"/>
              </a:rPr>
              <a:t>Results: Data Pipeline and </a:t>
            </a:r>
            <a:r>
              <a:rPr lang="de-DE" sz="4400" b="1" err="1">
                <a:solidFill>
                  <a:srgbClr val="1E4070"/>
                </a:solidFill>
                <a:latin typeface="Amasis MT Pro"/>
                <a:cs typeface="Aharoni"/>
              </a:rPr>
              <a:t>Methodology</a:t>
            </a:r>
            <a:endParaRPr lang="en-US" err="1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07BC80E-BAAD-7CE9-E7A8-1CDE36F12514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FF7ED381-A40D-A75A-1A82-C276E81AEC08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A6B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697091B9-8B55-D585-4F16-B5971ABA8DE2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C3DA24A9-D28A-B1D1-A7B3-67CC1976B337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A6B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313F4C-00BB-2B18-1A9F-86098032B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sp>
        <p:nvSpPr>
          <p:cNvPr id="560" name="Rectangle: Rounded Corners 559">
            <a:extLst>
              <a:ext uri="{FF2B5EF4-FFF2-40B4-BE49-F238E27FC236}">
                <a16:creationId xmlns:a16="http://schemas.microsoft.com/office/drawing/2014/main" id="{D8D7EBB1-0053-6987-CCB1-AB0A9658EC89}"/>
              </a:ext>
            </a:extLst>
          </p:cNvPr>
          <p:cNvSpPr/>
          <p:nvPr/>
        </p:nvSpPr>
        <p:spPr>
          <a:xfrm>
            <a:off x="7832564" y="2086184"/>
            <a:ext cx="1382137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Method 1: </a:t>
            </a:r>
          </a:p>
          <a:p>
            <a:pPr algn="ctr"/>
            <a:r>
              <a:rPr lang="en-US" sz="1600"/>
              <a:t>Linear Regression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5C190B-F0D5-B7DC-1129-FE87009B88A9}"/>
              </a:ext>
            </a:extLst>
          </p:cNvPr>
          <p:cNvSpPr/>
          <p:nvPr/>
        </p:nvSpPr>
        <p:spPr>
          <a:xfrm>
            <a:off x="7832563" y="3048759"/>
            <a:ext cx="1382136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Method 2: </a:t>
            </a:r>
          </a:p>
          <a:p>
            <a:pPr algn="ctr"/>
            <a:r>
              <a:rPr lang="en-US" sz="1600"/>
              <a:t>Logistic </a:t>
            </a:r>
          </a:p>
          <a:p>
            <a:pPr algn="ctr"/>
            <a:r>
              <a:rPr lang="en-US" sz="1600"/>
              <a:t>Regression</a:t>
            </a: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2F641C-4C16-468C-15CF-A09C1385436B}"/>
              </a:ext>
            </a:extLst>
          </p:cNvPr>
          <p:cNvSpPr/>
          <p:nvPr/>
        </p:nvSpPr>
        <p:spPr>
          <a:xfrm>
            <a:off x="7832565" y="4121203"/>
            <a:ext cx="1382137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Method 3: </a:t>
            </a:r>
          </a:p>
          <a:p>
            <a:pPr algn="ctr"/>
            <a:r>
              <a:rPr lang="en-US" sz="1600"/>
              <a:t>Random Chance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19601B-4490-E9F4-1685-AEA8076005FC}"/>
              </a:ext>
            </a:extLst>
          </p:cNvPr>
          <p:cNvSpPr/>
          <p:nvPr/>
        </p:nvSpPr>
        <p:spPr>
          <a:xfrm>
            <a:off x="4825999" y="1878188"/>
            <a:ext cx="1749777" cy="201930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787F73-020F-0313-F032-15B73FD983E5}"/>
              </a:ext>
            </a:extLst>
          </p:cNvPr>
          <p:cNvSpPr/>
          <p:nvPr/>
        </p:nvSpPr>
        <p:spPr>
          <a:xfrm>
            <a:off x="306639" y="2518926"/>
            <a:ext cx="1382137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Dataset 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63397B-4670-73A6-1C85-37D13C61A928}"/>
              </a:ext>
            </a:extLst>
          </p:cNvPr>
          <p:cNvSpPr/>
          <p:nvPr/>
        </p:nvSpPr>
        <p:spPr>
          <a:xfrm>
            <a:off x="2545603" y="2537740"/>
            <a:ext cx="1382137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/>
              <a:t>Replacing </a:t>
            </a:r>
            <a:r>
              <a:rPr lang="en-US" sz="1200" err="1"/>
              <a:t>NaN</a:t>
            </a:r>
            <a:r>
              <a:rPr lang="en-US" sz="1200"/>
              <a:t> with Column Mean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D038378-4F43-9A88-26A2-E473EB0FBD51}"/>
              </a:ext>
            </a:extLst>
          </p:cNvPr>
          <p:cNvSpPr/>
          <p:nvPr/>
        </p:nvSpPr>
        <p:spPr>
          <a:xfrm>
            <a:off x="5000934" y="1995129"/>
            <a:ext cx="1382137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Correlation</a:t>
            </a:r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2C310AC-C37D-25DE-DB12-8A3346AF0A6E}"/>
              </a:ext>
            </a:extLst>
          </p:cNvPr>
          <p:cNvSpPr/>
          <p:nvPr/>
        </p:nvSpPr>
        <p:spPr>
          <a:xfrm>
            <a:off x="5000934" y="3039350"/>
            <a:ext cx="1382137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Stepwise Selection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1D4A30-AD45-B185-5A00-85F9B8134F30}"/>
              </a:ext>
            </a:extLst>
          </p:cNvPr>
          <p:cNvSpPr/>
          <p:nvPr/>
        </p:nvSpPr>
        <p:spPr>
          <a:xfrm>
            <a:off x="7450664" y="1887595"/>
            <a:ext cx="2154298" cy="203811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F466B47-9DB4-272F-BDAA-B7BF197E7D44}"/>
              </a:ext>
            </a:extLst>
          </p:cNvPr>
          <p:cNvCxnSpPr/>
          <p:nvPr/>
        </p:nvCxnSpPr>
        <p:spPr>
          <a:xfrm>
            <a:off x="1825427" y="2926193"/>
            <a:ext cx="435166" cy="2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FBDF443-ADC5-BF59-1A99-454532DA003A}"/>
              </a:ext>
            </a:extLst>
          </p:cNvPr>
          <p:cNvCxnSpPr>
            <a:cxnSpLocks/>
          </p:cNvCxnSpPr>
          <p:nvPr/>
        </p:nvCxnSpPr>
        <p:spPr>
          <a:xfrm>
            <a:off x="4252538" y="2879156"/>
            <a:ext cx="435166" cy="2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B37651F-9DA5-FABB-655C-DC058669653B}"/>
              </a:ext>
            </a:extLst>
          </p:cNvPr>
          <p:cNvCxnSpPr>
            <a:cxnSpLocks/>
          </p:cNvCxnSpPr>
          <p:nvPr/>
        </p:nvCxnSpPr>
        <p:spPr>
          <a:xfrm>
            <a:off x="6500909" y="2455823"/>
            <a:ext cx="1197166" cy="1008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1D52C1E-6FAA-12AC-0883-424173950BDF}"/>
              </a:ext>
            </a:extLst>
          </p:cNvPr>
          <p:cNvSpPr txBox="1"/>
          <p:nvPr/>
        </p:nvSpPr>
        <p:spPr>
          <a:xfrm>
            <a:off x="4686917" y="1338801"/>
            <a:ext cx="2142622" cy="3830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/>
              <a:t>Feature Selection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1634B5-EF8C-9907-31B8-7DF6D5ACA6E5}"/>
              </a:ext>
            </a:extLst>
          </p:cNvPr>
          <p:cNvSpPr txBox="1"/>
          <p:nvPr/>
        </p:nvSpPr>
        <p:spPr>
          <a:xfrm>
            <a:off x="7546769" y="1338801"/>
            <a:ext cx="1954474" cy="3830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/>
              <a:t>Data Modelling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C62BCE-71F6-AF5D-93AA-12EE8D026134}"/>
              </a:ext>
            </a:extLst>
          </p:cNvPr>
          <p:cNvSpPr txBox="1"/>
          <p:nvPr/>
        </p:nvSpPr>
        <p:spPr>
          <a:xfrm>
            <a:off x="10011510" y="1338801"/>
            <a:ext cx="1954474" cy="3830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/>
              <a:t>Results</a:t>
            </a:r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BDFCC93-9C58-6EA8-570A-4D53AD290FF8}"/>
              </a:ext>
            </a:extLst>
          </p:cNvPr>
          <p:cNvSpPr/>
          <p:nvPr/>
        </p:nvSpPr>
        <p:spPr>
          <a:xfrm>
            <a:off x="10353749" y="1982702"/>
            <a:ext cx="1288063" cy="389524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0.987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9C03B6-E2E9-9004-E634-5425FC8825EB}"/>
              </a:ext>
            </a:extLst>
          </p:cNvPr>
          <p:cNvCxnSpPr>
            <a:cxnSpLocks/>
          </p:cNvCxnSpPr>
          <p:nvPr/>
        </p:nvCxnSpPr>
        <p:spPr>
          <a:xfrm flipV="1">
            <a:off x="6510315" y="2458174"/>
            <a:ext cx="1197167" cy="1004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9593D83-FC7D-CDDD-CF4B-A692F50B1DD9}"/>
              </a:ext>
            </a:extLst>
          </p:cNvPr>
          <p:cNvCxnSpPr>
            <a:cxnSpLocks/>
          </p:cNvCxnSpPr>
          <p:nvPr/>
        </p:nvCxnSpPr>
        <p:spPr>
          <a:xfrm>
            <a:off x="6472688" y="2427601"/>
            <a:ext cx="1253610" cy="2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5DAA8F3-1B91-0837-C676-799F9E9AF818}"/>
              </a:ext>
            </a:extLst>
          </p:cNvPr>
          <p:cNvCxnSpPr>
            <a:cxnSpLocks/>
          </p:cNvCxnSpPr>
          <p:nvPr/>
        </p:nvCxnSpPr>
        <p:spPr>
          <a:xfrm flipV="1">
            <a:off x="6472689" y="3464767"/>
            <a:ext cx="1263016" cy="70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354B56-D16E-F827-35A4-F380783FE451}"/>
              </a:ext>
            </a:extLst>
          </p:cNvPr>
          <p:cNvCxnSpPr>
            <a:cxnSpLocks/>
          </p:cNvCxnSpPr>
          <p:nvPr/>
        </p:nvCxnSpPr>
        <p:spPr>
          <a:xfrm flipV="1">
            <a:off x="9229056" y="2175951"/>
            <a:ext cx="1112501" cy="232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8EB34AF-CCDF-7AB5-B2A3-4E81CDA291A6}"/>
              </a:ext>
            </a:extLst>
          </p:cNvPr>
          <p:cNvSpPr/>
          <p:nvPr/>
        </p:nvSpPr>
        <p:spPr>
          <a:xfrm>
            <a:off x="10353748" y="2490701"/>
            <a:ext cx="1288063" cy="389524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0.987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F343FDB-2AEE-73BA-80CA-3D17951ACAA0}"/>
              </a:ext>
            </a:extLst>
          </p:cNvPr>
          <p:cNvSpPr/>
          <p:nvPr/>
        </p:nvSpPr>
        <p:spPr>
          <a:xfrm>
            <a:off x="10363156" y="2998702"/>
            <a:ext cx="1288063" cy="389524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0.821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C3109BF-ACDB-5666-A464-E33D5F1DAB0C}"/>
              </a:ext>
            </a:extLst>
          </p:cNvPr>
          <p:cNvSpPr/>
          <p:nvPr/>
        </p:nvSpPr>
        <p:spPr>
          <a:xfrm>
            <a:off x="10353748" y="3506702"/>
            <a:ext cx="1288063" cy="389524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0.827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3426F0D-57EB-2C5E-98BB-DE2D4E59208B}"/>
              </a:ext>
            </a:extLst>
          </p:cNvPr>
          <p:cNvSpPr/>
          <p:nvPr/>
        </p:nvSpPr>
        <p:spPr>
          <a:xfrm>
            <a:off x="10363155" y="4343961"/>
            <a:ext cx="1288063" cy="389524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0.495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D8CE6D4-FC62-1407-0ACE-5F4CDEB45453}"/>
              </a:ext>
            </a:extLst>
          </p:cNvPr>
          <p:cNvCxnSpPr>
            <a:cxnSpLocks/>
          </p:cNvCxnSpPr>
          <p:nvPr/>
        </p:nvCxnSpPr>
        <p:spPr>
          <a:xfrm>
            <a:off x="9229055" y="2465231"/>
            <a:ext cx="1121910" cy="228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A7D810A-7BEF-8192-AB35-F4F12CB887C5}"/>
              </a:ext>
            </a:extLst>
          </p:cNvPr>
          <p:cNvCxnSpPr>
            <a:cxnSpLocks/>
          </p:cNvCxnSpPr>
          <p:nvPr/>
        </p:nvCxnSpPr>
        <p:spPr>
          <a:xfrm flipV="1">
            <a:off x="9247871" y="3182543"/>
            <a:ext cx="1112501" cy="232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6CBFA95-56CD-121F-ECD6-8CD5723B48E3}"/>
              </a:ext>
            </a:extLst>
          </p:cNvPr>
          <p:cNvCxnSpPr>
            <a:cxnSpLocks/>
          </p:cNvCxnSpPr>
          <p:nvPr/>
        </p:nvCxnSpPr>
        <p:spPr>
          <a:xfrm>
            <a:off x="9247870" y="3471823"/>
            <a:ext cx="1121910" cy="228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DB84A16-323D-E496-540F-24A4589BD583}"/>
              </a:ext>
            </a:extLst>
          </p:cNvPr>
          <p:cNvCxnSpPr>
            <a:cxnSpLocks/>
          </p:cNvCxnSpPr>
          <p:nvPr/>
        </p:nvCxnSpPr>
        <p:spPr>
          <a:xfrm>
            <a:off x="9238464" y="4544267"/>
            <a:ext cx="1131315" cy="2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9D84262A-E883-7C80-DDEB-43ABE2FBFC87}"/>
              </a:ext>
            </a:extLst>
          </p:cNvPr>
          <p:cNvSpPr/>
          <p:nvPr/>
        </p:nvSpPr>
        <p:spPr>
          <a:xfrm>
            <a:off x="2370664" y="1878187"/>
            <a:ext cx="1740373" cy="204752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81F37D-3751-5356-6E0F-542E2403F479}"/>
              </a:ext>
            </a:extLst>
          </p:cNvPr>
          <p:cNvSpPr txBox="1"/>
          <p:nvPr/>
        </p:nvSpPr>
        <p:spPr>
          <a:xfrm>
            <a:off x="2165731" y="1338801"/>
            <a:ext cx="2142622" cy="3830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/>
              <a:t>Data Cleaning</a:t>
            </a:r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5AE86A8-B1C5-A428-93B3-EB1CE3FD543B}"/>
              </a:ext>
            </a:extLst>
          </p:cNvPr>
          <p:cNvSpPr/>
          <p:nvPr/>
        </p:nvSpPr>
        <p:spPr>
          <a:xfrm>
            <a:off x="5010341" y="4732683"/>
            <a:ext cx="1382137" cy="775226"/>
          </a:xfrm>
          <a:prstGeom prst="roundRect">
            <a:avLst/>
          </a:prstGeom>
          <a:solidFill>
            <a:srgbClr val="417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Interaction Terms</a:t>
            </a:r>
            <a:endParaRPr lang="en-US"/>
          </a:p>
        </p:txBody>
      </p:sp>
      <p:sp>
        <p:nvSpPr>
          <p:cNvPr id="13" name="Plus Sign 12">
            <a:extLst>
              <a:ext uri="{FF2B5EF4-FFF2-40B4-BE49-F238E27FC236}">
                <a16:creationId xmlns:a16="http://schemas.microsoft.com/office/drawing/2014/main" id="{5F540B18-6C14-E010-358A-907661C18203}"/>
              </a:ext>
            </a:extLst>
          </p:cNvPr>
          <p:cNvSpPr/>
          <p:nvPr/>
        </p:nvSpPr>
        <p:spPr>
          <a:xfrm>
            <a:off x="5558197" y="4093832"/>
            <a:ext cx="392281" cy="401621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805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126A4-ECCD-54F4-05D5-30C09152B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C44B5C-5F8A-FC60-33B0-3F7053EC8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417" y="478010"/>
            <a:ext cx="9479339" cy="674929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>
                <a:solidFill>
                  <a:srgbClr val="1E4070"/>
                </a:solidFill>
                <a:ea typeface="+mj-lt"/>
                <a:cs typeface="+mj-lt"/>
              </a:rPr>
              <a:t>Additional Insights: Model Performance </a:t>
            </a:r>
            <a:r>
              <a:rPr lang="de-DE" sz="4400" b="1" err="1">
                <a:solidFill>
                  <a:srgbClr val="1E4070"/>
                </a:solidFill>
                <a:ea typeface="+mj-lt"/>
                <a:cs typeface="+mj-lt"/>
              </a:rPr>
              <a:t>Comparison</a:t>
            </a:r>
            <a:endParaRPr lang="en-US" err="1">
              <a:ea typeface="+mj-lt"/>
              <a:cs typeface="+mj-lt"/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55C2CD4-18B8-FE53-AF77-3C8AEEEBCD38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49567FAD-01A1-F64D-BF99-97E06A3C7E82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1A7D280-E1FB-F4A0-6DE1-C47238B998CE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6BBAC59-4534-F31F-0233-AEF67C5F9701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DAA8A5-3D8B-1C47-9A6E-7E17817E5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E53B95-FCF9-03D3-2D83-9BAAE0552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32" y="1151658"/>
            <a:ext cx="5775613" cy="37060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B005F1-0FFE-7DA9-ACC7-1C5D3E783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864" y="3524249"/>
            <a:ext cx="5463888" cy="33337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B550FD-6B6B-7C4F-996A-7BF0893CD169}"/>
              </a:ext>
            </a:extLst>
          </p:cNvPr>
          <p:cNvSpPr txBox="1"/>
          <p:nvPr/>
        </p:nvSpPr>
        <p:spPr>
          <a:xfrm>
            <a:off x="6684818" y="1523999"/>
            <a:ext cx="427759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2">
                    <a:lumMod val="76000"/>
                    <a:lumOff val="24000"/>
                  </a:schemeClr>
                </a:solidFill>
                <a:latin typeface="Helvetica Neue"/>
              </a:rPr>
              <a:t>Linear regression produces predictions outside the valid probability range [0,1].</a:t>
            </a:r>
            <a:endParaRPr lang="en-US" sz="24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AD8416-8250-1EA4-F16F-C8E711EE1EA7}"/>
              </a:ext>
            </a:extLst>
          </p:cNvPr>
          <p:cNvSpPr txBox="1"/>
          <p:nvPr/>
        </p:nvSpPr>
        <p:spPr>
          <a:xfrm>
            <a:off x="1246908" y="4866408"/>
            <a:ext cx="448540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2">
                    <a:lumMod val="76000"/>
                    <a:lumOff val="24000"/>
                  </a:schemeClr>
                </a:solidFill>
                <a:latin typeface="Helvetica Neue"/>
              </a:rPr>
              <a:t>The distribution shows invalid linear regression predictions below 0 and above 1.</a:t>
            </a:r>
            <a:endParaRPr lang="en-US" sz="20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86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3A019A-1CF3-EBA5-8919-C1F548228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EF1CC-E2FF-BA01-25FF-7E4A49C25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417" y="453430"/>
            <a:ext cx="9258114" cy="658542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 err="1">
                <a:solidFill>
                  <a:srgbClr val="1E4070"/>
                </a:solidFill>
                <a:ea typeface="+mj-lt"/>
                <a:cs typeface="+mj-lt"/>
              </a:rPr>
              <a:t>Conclusion</a:t>
            </a:r>
            <a:endParaRPr lang="en-US" err="1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A2B022A1-8EDC-C4AD-D35D-4C1799D939CB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063BCC5-6962-8DE8-93C8-FB60F1A93EC0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11F73937-71B7-9932-11B0-B03D045F90B4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AEC33303-DE6F-9398-0A71-B63074CF9D52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37C31A-A72A-1CA0-33E6-9249D3C4F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661DEF-6DC2-D255-7F22-99B4697DAF67}"/>
              </a:ext>
            </a:extLst>
          </p:cNvPr>
          <p:cNvSpPr txBox="1"/>
          <p:nvPr/>
        </p:nvSpPr>
        <p:spPr>
          <a:xfrm>
            <a:off x="858034" y="1578983"/>
            <a:ext cx="10607643" cy="3508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2">
                    <a:lumMod val="90000"/>
                    <a:lumOff val="10000"/>
                  </a:schemeClr>
                </a:solidFill>
                <a:latin typeface="Helvetica Neue"/>
                <a:ea typeface="+mn-lt"/>
                <a:cs typeface="+mn-lt"/>
              </a:rPr>
              <a:t>Answering the research hypotheses:</a:t>
            </a:r>
            <a:endParaRPr lang="en-US" sz="2400">
              <a:solidFill>
                <a:schemeClr val="tx2">
                  <a:lumMod val="90000"/>
                  <a:lumOff val="10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200">
              <a:solidFill>
                <a:schemeClr val="tx2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Logistic regression outperforms linear regression in identifying future diabetes cases.</a:t>
            </a:r>
            <a:endParaRPr lang="en-US" sz="22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Although linear regression achieves high overall accuracy, it fails to detect diabetic individuals.</a:t>
            </a:r>
            <a:endParaRPr lang="en-US" sz="22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Logistic regression detects </a:t>
            </a:r>
            <a:r>
              <a:rPr lang="en-US" sz="2200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&gt;80% of diabetes cases (high recall)</a:t>
            </a:r>
            <a:r>
              <a:rPr lang="en-US" sz="2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, which is beneficial for early detection.</a:t>
            </a:r>
            <a:endParaRPr lang="en-US" sz="22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Feature selection method (correlation vs. stepwise) does not substantially change model performance.</a:t>
            </a:r>
            <a:endParaRPr lang="en-US" sz="220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34B36-86EF-CB4B-A444-40FD04FB1627}"/>
              </a:ext>
            </a:extLst>
          </p:cNvPr>
          <p:cNvSpPr txBox="1"/>
          <p:nvPr/>
        </p:nvSpPr>
        <p:spPr>
          <a:xfrm>
            <a:off x="1010477" y="5286123"/>
            <a:ext cx="1064289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Logistic regression using physiological and metabolic predictors provides the 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most reliable and clinically relevant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 diabetes predictions.</a:t>
            </a:r>
          </a:p>
          <a:p>
            <a:pPr algn="l"/>
            <a:endParaRPr lang="en-US"/>
          </a:p>
        </p:txBody>
      </p:sp>
      <p:pic>
        <p:nvPicPr>
          <p:cNvPr id="9" name="Graphic 8" descr="Graph and note paper with pencils">
            <a:extLst>
              <a:ext uri="{FF2B5EF4-FFF2-40B4-BE49-F238E27FC236}">
                <a16:creationId xmlns:a16="http://schemas.microsoft.com/office/drawing/2014/main" id="{7BA58860-BBA0-B882-83DB-D9E1D16D8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8336" y="-403635"/>
            <a:ext cx="3040457" cy="303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17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8FF76-5C2E-B0BD-3FDB-62B15837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7E4575-3E9C-788E-8745-CF44CE9C0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417" y="453430"/>
            <a:ext cx="9258114" cy="658542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 b="1" err="1">
                <a:solidFill>
                  <a:srgbClr val="1E4070"/>
                </a:solidFill>
                <a:ea typeface="+mj-lt"/>
                <a:cs typeface="+mj-lt"/>
              </a:rPr>
              <a:t>Discussion</a:t>
            </a:r>
            <a:r>
              <a:rPr lang="de-DE" sz="4400" b="1">
                <a:solidFill>
                  <a:srgbClr val="1E4070"/>
                </a:solidFill>
                <a:ea typeface="+mj-lt"/>
                <a:cs typeface="+mj-lt"/>
              </a:rPr>
              <a:t> &amp; </a:t>
            </a:r>
            <a:r>
              <a:rPr lang="de-DE" sz="4400" b="1" err="1">
                <a:solidFill>
                  <a:srgbClr val="1E4070"/>
                </a:solidFill>
                <a:ea typeface="+mj-lt"/>
                <a:cs typeface="+mj-lt"/>
              </a:rPr>
              <a:t>Implications</a:t>
            </a:r>
            <a:endParaRPr lang="en-US" err="1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515EDC7-EF8C-E72F-550F-AA20BF7F7C8E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3AE9453E-217D-12A6-AAF0-BC06863153B6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D11FC9D-FC7E-C844-6BB1-4818FAF95A56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FFB64E25-B8AF-2FCB-86F0-FAE20347B5F4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549E8D-E068-D9EB-B6CD-534029177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1B9A9E-7968-8463-CA2C-91734FFBED43}"/>
              </a:ext>
            </a:extLst>
          </p:cNvPr>
          <p:cNvSpPr txBox="1"/>
          <p:nvPr/>
        </p:nvSpPr>
        <p:spPr>
          <a:xfrm>
            <a:off x="1132738" y="1396162"/>
            <a:ext cx="3888903" cy="7232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300" b="1">
                <a:solidFill>
                  <a:schemeClr val="tx2">
                    <a:lumMod val="90000"/>
                    <a:lumOff val="10000"/>
                  </a:schemeClr>
                </a:solidFill>
              </a:rPr>
              <a:t>Why accuracy is misleading</a:t>
            </a:r>
          </a:p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FFA09-564A-EEE1-502C-AA5DD30CEB61}"/>
              </a:ext>
            </a:extLst>
          </p:cNvPr>
          <p:cNvSpPr txBox="1"/>
          <p:nvPr/>
        </p:nvSpPr>
        <p:spPr>
          <a:xfrm>
            <a:off x="854508" y="2136870"/>
            <a:ext cx="4598935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The dataset shows </a:t>
            </a:r>
            <a:r>
              <a:rPr lang="en-US" sz="2200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severe class imbalance</a:t>
            </a:r>
            <a:r>
              <a:rPr lang="en-US" sz="2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, with only ~2% of participants diagnosed with diabetes.</a:t>
            </a:r>
            <a:endParaRPr lang="en-US" sz="22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High accuracy mainly reflects correct predictions of non-diabetic individuals.</a:t>
            </a:r>
            <a:endParaRPr lang="en-US" sz="22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A model predicting “no diabetes” for all cases would already achieve very high accuracy.</a:t>
            </a:r>
            <a:endParaRPr lang="en-US" sz="22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398F0D-A299-B3B4-841F-1C58BE67CA8D}"/>
              </a:ext>
            </a:extLst>
          </p:cNvPr>
          <p:cNvSpPr txBox="1"/>
          <p:nvPr/>
        </p:nvSpPr>
        <p:spPr>
          <a:xfrm>
            <a:off x="6534783" y="1391581"/>
            <a:ext cx="4089148" cy="7232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300" b="1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Precision–Recall trade-off</a:t>
            </a:r>
            <a:endParaRPr lang="en-US" sz="230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D10717-0D37-6BBE-E23A-6CAE8EC2FBC2}"/>
              </a:ext>
            </a:extLst>
          </p:cNvPr>
          <p:cNvSpPr txBox="1"/>
          <p:nvPr/>
        </p:nvSpPr>
        <p:spPr>
          <a:xfrm>
            <a:off x="6093109" y="2139763"/>
            <a:ext cx="4647445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High recall ensures that most diabetic cases are correctly identified.</a:t>
            </a:r>
            <a:endParaRPr lang="en-US" sz="22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Low precision results in a higher number of false positives.</a:t>
            </a:r>
            <a:endParaRPr lang="en-US" sz="22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This trade-off is acceptable and often preferred in medical screening, where missing true cases is more costly than false alarms.</a:t>
            </a:r>
            <a:endParaRPr lang="en-US" sz="22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algn="l"/>
            <a:endParaRPr lang="en-US" sz="220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296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80873-3AB0-C327-4AE6-027FBEE4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59AF69-708A-7999-CD37-B17F5EA82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051" y="3278406"/>
            <a:ext cx="9258114" cy="658542"/>
          </a:xfrm>
        </p:spPr>
        <p:txBody>
          <a:bodyPr>
            <a:noAutofit/>
          </a:bodyPr>
          <a:lstStyle/>
          <a:p>
            <a:pPr algn="l"/>
            <a:r>
              <a:rPr lang="de-DE" sz="8800" b="1">
                <a:solidFill>
                  <a:srgbClr val="1E4070"/>
                </a:solidFill>
                <a:ea typeface="+mj-lt"/>
                <a:cs typeface="+mj-lt"/>
              </a:rPr>
              <a:t>Questions?</a:t>
            </a:r>
            <a:endParaRPr lang="de-DE" sz="8800" b="1">
              <a:solidFill>
                <a:srgbClr val="1E4070"/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FB83DEA-505B-2230-7BA4-249142A5546D}"/>
              </a:ext>
            </a:extLst>
          </p:cNvPr>
          <p:cNvSpPr/>
          <p:nvPr/>
        </p:nvSpPr>
        <p:spPr>
          <a:xfrm>
            <a:off x="-1300480" y="-1351280"/>
            <a:ext cx="2153920" cy="30683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CEAE4294-3989-48D4-57EA-7BC061D071E9}"/>
              </a:ext>
            </a:extLst>
          </p:cNvPr>
          <p:cNvSpPr/>
          <p:nvPr/>
        </p:nvSpPr>
        <p:spPr>
          <a:xfrm>
            <a:off x="-1503680" y="-1351280"/>
            <a:ext cx="2153920" cy="284480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512D0AD-3EE4-3651-26D7-81ED53E83E6F}"/>
              </a:ext>
            </a:extLst>
          </p:cNvPr>
          <p:cNvSpPr/>
          <p:nvPr/>
        </p:nvSpPr>
        <p:spPr>
          <a:xfrm rot="-5400000">
            <a:off x="1803401" y="4963160"/>
            <a:ext cx="2153920" cy="4643120"/>
          </a:xfrm>
          <a:prstGeom prst="flowChartConnector">
            <a:avLst/>
          </a:prstGeom>
          <a:noFill/>
          <a:ln w="57150">
            <a:solidFill>
              <a:srgbClr val="1E4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A2B2EAD5-586B-F360-7F91-A5589B4BD729}"/>
              </a:ext>
            </a:extLst>
          </p:cNvPr>
          <p:cNvSpPr/>
          <p:nvPr/>
        </p:nvSpPr>
        <p:spPr>
          <a:xfrm rot="-5400000">
            <a:off x="1803401" y="5257800"/>
            <a:ext cx="2153920" cy="4643120"/>
          </a:xfrm>
          <a:prstGeom prst="flowChartConnector">
            <a:avLst/>
          </a:prstGeom>
          <a:noFill/>
          <a:ln w="57150">
            <a:solidFill>
              <a:srgbClr val="3B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2008D5A-85D8-5188-2A55-6231F5B05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182880"/>
            <a:ext cx="650240" cy="65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04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22</Slides>
  <Notes>0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Predicting Diabetes </vt:lpstr>
      <vt:lpstr>Background</vt:lpstr>
      <vt:lpstr>Real World Applications</vt:lpstr>
      <vt:lpstr>Research Question 1</vt:lpstr>
      <vt:lpstr>Research Questions 2</vt:lpstr>
      <vt:lpstr>Research Questions 3</vt:lpstr>
      <vt:lpstr>Dataset Description</vt:lpstr>
      <vt:lpstr>Data Pipeline and Methodology</vt:lpstr>
      <vt:lpstr>Factors Indicative of Diabetes</vt:lpstr>
      <vt:lpstr>Feature Selection Method 1: Correlation with FFPG</vt:lpstr>
      <vt:lpstr>Feature Selection Method 2: Stepwise Selection for Linear Regression</vt:lpstr>
      <vt:lpstr>Feature Selection Method 2: Stepwise Selection for Logistic Regression</vt:lpstr>
      <vt:lpstr>Feature Selection Method 2: Stepwise Selection</vt:lpstr>
      <vt:lpstr>Results 1: Linear Regression with Correlation Selected Features</vt:lpstr>
      <vt:lpstr>Results 2: Linear Regression with Stepwise - Selected Features</vt:lpstr>
      <vt:lpstr>Results 3: Logistic Regression with Correlation - Selected Features</vt:lpstr>
      <vt:lpstr>Results 4: Logistic Regression with Stepwise - Selected Features</vt:lpstr>
      <vt:lpstr>Results: Data Pipeline and Methodology</vt:lpstr>
      <vt:lpstr>Additional Insights: Model Performance Comparison</vt:lpstr>
      <vt:lpstr>Conclusion</vt:lpstr>
      <vt:lpstr>Discussion &amp; Implications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18</cp:revision>
  <dcterms:created xsi:type="dcterms:W3CDTF">2025-12-02T17:13:43Z</dcterms:created>
  <dcterms:modified xsi:type="dcterms:W3CDTF">2025-12-19T13:43:14Z</dcterms:modified>
</cp:coreProperties>
</file>